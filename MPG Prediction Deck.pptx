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what fuel costs households, the equation that predicts MPG, why raw MPG misleads (design drift), the normalized productivity law, classes, buyers, EVs, and the 2045 projection.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money. A gas car burns ~$2,500 a year, an EV ~$1,000, and the average new vehicle costs $50k. MPG is the design lever behind the fuel line. Research question on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MPG is the dependent variable; the four design measures are independent. Signs predicted before fitting. WHAT 2-CYCLE MEANS if asked: EPA's two laboratory dynamometer driving cycles - a simulated stop-and-go CITY drive (the FTP) and a steady ~48 mph HIGHWAY drive - blended 55/45 into 'combined'. 'Unadjusted' = the raw lab results with no correction toward real-world driving; this is the measurement CAFE compliance uses. The window sticker uses 5-cycle testing (adds high-speed, air-conditioning, and cold-weather cycles) and reads lower; real-world driving is lower still (~31% below 2-cycle by 2024, per the lab-vs-road chart). We chose 2-cycle deliberately: one consistent, physics-clean test applied identically to every vehicle.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Compliance filings, not surveys. One row per model type; checksummed chain of custody. WHAT '100% JOIN RATE' MEANS if asked: EPA publishes the fuel-economy data and the footprint data as two SEPARATE files, so rows must be matched between them before footprint can appear in the model. The matching key is the triplet (manufacturer code, division code, carline code) - e.g., GM / Chevrolet / Silverado 4WD. 100% means every one of the 1,052 carlines in the fuel-economy file found its partner in the footprint file AND vice versa - zero orphans, no fuzzy name matching, no dropped vehicles, no imputation. That matters because merging separately published files is where data usually leaks away silently; ours lost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Raw scatter first, model second. The pattern is obvious; regression disentangles correlated causes and bounds each. Footprint is one of three: weight and horsepower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raw relationship: weight. Note the vertical spread at fixed weight - hybrids sit high, performance engines low. That spread is why one predictor is not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raw relationship and the strongest: horsepower. Visibly a power law, which motivates the log transform on the derivation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equation, verbatim. Why logs, why elasticities, why HC1. Slow down here. WHAT EPSILON MEANS if asked: the error term - everything that determines a vehicle's MPG that the four predictors do not capture (aero tuning, gearing, tires, calibration). Without epsilon the equation would claim four numbers determine MPG EXACTLY, which is false; with it, MPG = systematic part + vehicle-specific residual. Epsilon is why the dots on the predicted-vs-actual slide scatter around the 45-degree line rather than sitting on it, and R-squared = 0.846 literally means the predictors explain 85% of variance while epsilon carries the other 15%. Soundbite: 'epsilon is the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reject zero. R-squared 0.846, adjusted identical. VIF max 3.4: collinearity present but tame. WHAT F = 1,401 MEANS if asked: the whole-model test. Null hypothesis: all four coefficients are zero - the predictors collectively explain nothing. F is the ratio of variance explained by the model (per parameter) to variance left unexplained (per residual degree of freedom) - hence F(4, 1020): 4 parameters against 1,025 - 5 = 1,020 residual df. Under the null this ratio hovers near 1; ours is 1,401, p below 10 to the -15. This is the ANOVA machinery from Chapters 9-11 applied to regression: explained vs unexplained variation, SST vs SSE. Honest caveat if pushed: with n this large F is almost always significant - the individual t-tests and effect sizes carry the interesting information; F certifies the model is not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Predicted vs actual, one dot per model type. Typical miss is a few MPG from four numbers on a spec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pivot slide: raw MPG is a design-confounded series. Weight bought safety (3x fewer deaths per mile), power bought acceleration. Motivates normalization using our own elasticities.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Elasticities in words; hybridize before lightweighting. Ton-MPG is the crude version of the normalization; the next slide does it properly with both elasticities.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EXACTLY what is happening: the regression says MPG is proportional to weight^-0.304 times HP^-0.483 times a technology level. So technology level = MPG divided by those design terms. To COMPARE years, we evaluate every year's technology at one common design point (2024's fleet weight and power). The multiplication by (wt/wt2024)^0.304 and (HP/HP2024)^0.483 does that: for a light, weak 1987 fleet both ratios are below 1, so raw MPG gets scaled DOWN - 1987's 22.0 becomes ~13.8, the MPG its technology would have delivered pushing 2024 metal. Because the model is log-log (multiplicative), design separates from technology as clean ratio factors; that is WHY we fit in logs. Key assumption to volunteer: the elasticities are 2024 cross-sectional values applied historically; era refits (R-squared 0.71-0.78) support but cannot prove stability. Why 2024 as the reference: any year works mathematically - the whole curve just shifts; 2024 makes the endpoint equal today's actual fleet so the numbers read in today's terms.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payoff of the equation beyond prediction: it is a measuring instrument. Normalized, combustion productivity is a 50-year straight line in log space. The mechanics were just shown on the how-we-normalized slide; if the worked example is requested again: 1987's raw 22.0 MPG times (3221/4354)^0.304 times (118/258)^0.483 = 22.0 x 0.91 x 0.69 = ~13.8 - what 1987 technology delivers pushing 2024 weight and power. This slide additionally backs BEVs out (harmonically for MPG, arithmetically for weight/HP, Tesla series as proxy) so the line is pure combustion.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law per class. Pre-empt the spike question here by naming it; full decomposition sits in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Predicted MPG converts to dollars per year; payback arithmetic; the worst BEV year beats the best gasoline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EVs get their own beat: automakers offer three times faster than Americans buy; adoption is visibly policy-elastic (2023 surge, 2024 hangover). Ties to beat 6: the cost advantage is the engine, incentives the throttle.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Forward view of technology: same functional form, different clocks. Say 'believe the dashes least' about BEV.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plane: projection with and without electrification, the gap as the consumer-choice term. The chain sentence is the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limitations, now covering the normalization and projection too. Volunteer the elasticity-stability assumption before anyone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numbers, the chain, questions. Backups stand ready: robustness, changepoints, audits, distributions, prices, the EV clock, the spike decomposition.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any 'does it generalize?'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if asked how the eras were 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causal questions about gas prices or interest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consumer-behavior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price-history questions; MSRP vs ATP distinction.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fuel-cost trend questions; energy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'do EVs improve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'what is that spike?' and 'is 2024 incomplete?'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81E"/>
        </a:solidFill>
      </p:bgPr>
    </p:bg>
    <p:spTree>
      <p:nvGrpSpPr>
        <p:cNvPr id="1" name=""/>
        <p:cNvGrpSpPr/>
        <p:nvPr/>
      </p:nvGrpSpPr>
      <p:grpSpPr>
        <a:xfrm>
          <a:off x="0" y="0"/>
          <a:ext cx="0" cy="0"/>
          <a:chOff x="0" y="0"/>
          <a:chExt cx="0" cy="0"/>
        </a:xfrm>
      </p:grpSpPr>
      <p:sp>
        <p:nvSpPr>
          <p:cNvPr id="2" name="Text 0"/>
          <p:cNvSpPr txBox="1"/>
          <p:nvPr/>
        </p:nvSpPr>
        <p:spPr>
          <a:xfrm>
            <a:off x="731520" y="1828800"/>
            <a:ext cx="10698480" cy="1097280"/>
          </a:xfrm>
          <a:prstGeom prst="rect">
            <a:avLst/>
          </a:prstGeom>
          <a:noFill/>
          <a:ln/>
        </p:spPr>
        <p:txBody>
          <a:bodyPr wrap="square" lIns="0" tIns="0" rIns="0" bIns="0" rtlCol="0" anchor="ctr"/>
          <a:lstStyle/>
          <a:p>
            <a:pPr indent="0" marL="0">
              <a:buNone/>
            </a:pPr>
            <a:r>
              <a:rPr lang="en-US" sz="6000" b="1" dirty="0">
                <a:solidFill>
                  <a:srgbClr val="FFFFFF"/>
                </a:solidFill>
                <a:latin typeface="Calibri" pitchFamily="34" charset="0"/>
                <a:ea typeface="Calibri" pitchFamily="34" charset="-122"/>
                <a:cs typeface="Calibri" pitchFamily="34" charset="-120"/>
              </a:rPr>
              <a:t>Predicting MPG</a:t>
            </a:r>
            <a:endParaRPr lang="en-US" sz="6000" dirty="0"/>
          </a:p>
        </p:txBody>
      </p:sp>
      <p:sp>
        <p:nvSpPr>
          <p:cNvPr id="3" name="Text 1"/>
          <p:cNvSpPr txBox="1"/>
          <p:nvPr/>
        </p:nvSpPr>
        <p:spPr>
          <a:xfrm>
            <a:off x="731520" y="2971800"/>
            <a:ext cx="10698480" cy="548640"/>
          </a:xfrm>
          <a:prstGeom prst="rect">
            <a:avLst/>
          </a:prstGeom>
          <a:noFill/>
          <a:ln/>
        </p:spPr>
        <p:txBody>
          <a:bodyPr wrap="square" lIns="0" tIns="0" rIns="0" bIns="0" rtlCol="0" anchor="ctr"/>
          <a:lstStyle/>
          <a:p>
            <a:pPr indent="0" marL="0">
              <a:buNone/>
            </a:pPr>
            <a:r>
              <a:rPr lang="en-US" sz="2400" dirty="0">
                <a:solidFill>
                  <a:srgbClr val="C9DDF6"/>
                </a:solidFill>
                <a:latin typeface="Calibri" pitchFamily="34" charset="0"/>
                <a:ea typeface="Calibri" pitchFamily="34" charset="-122"/>
                <a:cs typeface="Calibri" pitchFamily="34" charset="-120"/>
              </a:rPr>
              <a:t>From fuel bills to a four-variable equation to the 2045 fleet</a:t>
            </a:r>
            <a:endParaRPr lang="en-US" sz="2400" dirty="0"/>
          </a:p>
        </p:txBody>
      </p:sp>
      <p:sp>
        <p:nvSpPr>
          <p:cNvPr id="4" name="Text 2"/>
          <p:cNvSpPr txBox="1"/>
          <p:nvPr/>
        </p:nvSpPr>
        <p:spPr>
          <a:xfrm>
            <a:off x="731520" y="3611880"/>
            <a:ext cx="10698480" cy="457200"/>
          </a:xfrm>
          <a:prstGeom prst="rect">
            <a:avLst/>
          </a:prstGeom>
          <a:noFill/>
          <a:ln/>
        </p:spPr>
        <p:txBody>
          <a:bodyPr wrap="square" lIns="0" tIns="0" rIns="0" bIns="0" rtlCol="0" anchor="ctr"/>
          <a:lstStyle/>
          <a:p>
            <a:pPr indent="0" marL="0">
              <a:buNone/>
            </a:pPr>
            <a:r>
              <a:rPr lang="en-US" sz="1800" b="1" dirty="0">
                <a:solidFill>
                  <a:srgbClr val="EB6834"/>
                </a:solidFill>
                <a:latin typeface="Calibri" pitchFamily="34" charset="0"/>
                <a:ea typeface="Calibri" pitchFamily="34" charset="-122"/>
                <a:cs typeface="Calibri" pitchFamily="34" charset="-120"/>
              </a:rPr>
              <a:t>weight  ·  horsepower  ·  footprint  ·  hybrid    —    R² = 0.846</a:t>
            </a:r>
            <a:endParaRPr lang="en-US" sz="1800" dirty="0"/>
          </a:p>
        </p:txBody>
      </p:sp>
      <p:sp>
        <p:nvSpPr>
          <p:cNvPr id="5" name="Text 3"/>
          <p:cNvSpPr txBox="1"/>
          <p:nvPr/>
        </p:nvSpPr>
        <p:spPr>
          <a:xfrm>
            <a:off x="731520" y="5669280"/>
            <a:ext cx="10698480" cy="731520"/>
          </a:xfrm>
          <a:prstGeom prst="rect">
            <a:avLst/>
          </a:prstGeom>
          <a:noFill/>
          <a:ln/>
        </p:spPr>
        <p:txBody>
          <a:bodyPr wrap="square" lIns="0" tIns="0" rIns="0" bIns="0" rtlCol="0" anchor="ctr"/>
          <a:lstStyle/>
          <a:p>
            <a:pPr indent="0" marL="0">
              <a:buNone/>
            </a:pPr>
            <a:r>
              <a:rPr lang="en-US" sz="1400" dirty="0">
                <a:solidFill>
                  <a:srgbClr val="9AA3AE"/>
                </a:solidFill>
                <a:latin typeface="Calibri" pitchFamily="34" charset="0"/>
                <a:ea typeface="Calibri" pitchFamily="34" charset="-122"/>
                <a:cs typeface="Calibri" pitchFamily="34" charset="-120"/>
              </a:rPr>
              <a:t>OS 3810 Probability &amp; Statistics — Final Project</a:t>
            </a:r>
            <a:endParaRPr lang="en-US" sz="1400" dirty="0"/>
          </a:p>
          <a:p>
            <a:pPr indent="0" marL="0">
              <a:buNone/>
            </a:pPr>
            <a:r>
              <a:rPr lang="en-US" sz="1400" dirty="0">
                <a:solidFill>
                  <a:srgbClr val="9AA3AE"/>
                </a:solidFill>
                <a:latin typeface="Calibri" pitchFamily="34" charset="0"/>
                <a:ea typeface="Calibri" pitchFamily="34" charset="-122"/>
                <a:cs typeface="Calibri" pitchFamily="34" charset="-120"/>
              </a:rPr>
              <a:t>EPA Model Year 2024 compliance data, 1,025 vehicles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2900" b="1" dirty="0">
                <a:solidFill>
                  <a:srgbClr val="0B0B0B"/>
                </a:solidFill>
                <a:latin typeface="Calibri" pitchFamily="34" charset="0"/>
                <a:ea typeface="Calibri" pitchFamily="34" charset="-122"/>
                <a:cs typeface="Calibri" pitchFamily="34" charset="-120"/>
              </a:rPr>
              <a:t>Fuel is a four-figure annual bill, and MPG sets it</a:t>
            </a:r>
            <a:endParaRPr lang="en-US" sz="2900" dirty="0"/>
          </a:p>
        </p:txBody>
      </p:sp>
      <p:sp>
        <p:nvSpPr>
          <p:cNvPr id="3" name="Text 1"/>
          <p:cNvSpPr txBox="1"/>
          <p:nvPr/>
        </p:nvSpPr>
        <p:spPr>
          <a:xfrm>
            <a:off x="502920" y="1463040"/>
            <a:ext cx="3566160" cy="868680"/>
          </a:xfrm>
          <a:prstGeom prst="rect">
            <a:avLst/>
          </a:prstGeom>
          <a:noFill/>
          <a:ln/>
        </p:spPr>
        <p:txBody>
          <a:bodyPr wrap="square" lIns="0" tIns="0" rIns="0" bIns="0" rtlCol="0" anchor="ctr"/>
          <a:lstStyle/>
          <a:p>
            <a:pPr indent="0" marL="0">
              <a:buNone/>
            </a:pPr>
            <a:r>
              <a:rPr lang="en-US" sz="4400" b="1" dirty="0">
                <a:solidFill>
                  <a:srgbClr val="EB6834"/>
                </a:solidFill>
                <a:latin typeface="Calibri" pitchFamily="34" charset="0"/>
                <a:ea typeface="Calibri" pitchFamily="34" charset="-122"/>
                <a:cs typeface="Calibri" pitchFamily="34" charset="-120"/>
              </a:rPr>
              <a:t>$2,463</a:t>
            </a:r>
            <a:endParaRPr lang="en-US" sz="4400" dirty="0"/>
          </a:p>
        </p:txBody>
      </p:sp>
      <p:sp>
        <p:nvSpPr>
          <p:cNvPr id="4" name="Text 2"/>
          <p:cNvSpPr txBox="1"/>
          <p:nvPr/>
        </p:nvSpPr>
        <p:spPr>
          <a:xfrm>
            <a:off x="502920" y="2331720"/>
            <a:ext cx="3566160" cy="685800"/>
          </a:xfrm>
          <a:prstGeom prst="rect">
            <a:avLst/>
          </a:prstGeom>
          <a:noFill/>
          <a:ln/>
        </p:spPr>
        <p:txBody>
          <a:bodyPr wrap="square" lIns="0" tIns="0" rIns="0" bIns="0" rtlCol="0" anchor="ctr"/>
          <a:lstStyle/>
          <a:p>
            <a:pPr indent="0" marL="0">
              <a:buNone/>
            </a:pPr>
            <a:r>
              <a:rPr lang="en-US" sz="1300" dirty="0">
                <a:solidFill>
                  <a:srgbClr val="0B0B0B"/>
                </a:solidFill>
                <a:latin typeface="Calibri" pitchFamily="34" charset="0"/>
                <a:ea typeface="Calibri" pitchFamily="34" charset="-122"/>
                <a:cs typeface="Calibri" pitchFamily="34" charset="-120"/>
              </a:rPr>
              <a:t>annual energy cost of the median gasoline vehicle (15,000 miles, 2024 prices)</a:t>
            </a:r>
            <a:endParaRPr lang="en-US" sz="1300" dirty="0"/>
          </a:p>
        </p:txBody>
      </p:sp>
      <p:sp>
        <p:nvSpPr>
          <p:cNvPr id="5" name="Text 3"/>
          <p:cNvSpPr txBox="1"/>
          <p:nvPr/>
        </p:nvSpPr>
        <p:spPr>
          <a:xfrm>
            <a:off x="4343400" y="1463040"/>
            <a:ext cx="3566160" cy="868680"/>
          </a:xfrm>
          <a:prstGeom prst="rect">
            <a:avLst/>
          </a:prstGeom>
          <a:noFill/>
          <a:ln/>
        </p:spPr>
        <p:txBody>
          <a:bodyPr wrap="square" lIns="0" tIns="0" rIns="0" bIns="0" rtlCol="0" anchor="ctr"/>
          <a:lstStyle/>
          <a:p>
            <a:pPr indent="0" marL="0">
              <a:buNone/>
            </a:pPr>
            <a:r>
              <a:rPr lang="en-US" sz="4400" b="1" dirty="0">
                <a:solidFill>
                  <a:srgbClr val="2A78D6"/>
                </a:solidFill>
                <a:latin typeface="Calibri" pitchFamily="34" charset="0"/>
                <a:ea typeface="Calibri" pitchFamily="34" charset="-122"/>
                <a:cs typeface="Calibri" pitchFamily="34" charset="-120"/>
              </a:rPr>
              <a:t>$1,007</a:t>
            </a:r>
            <a:endParaRPr lang="en-US" sz="4400" dirty="0"/>
          </a:p>
        </p:txBody>
      </p:sp>
      <p:sp>
        <p:nvSpPr>
          <p:cNvPr id="6" name="Text 4"/>
          <p:cNvSpPr txBox="1"/>
          <p:nvPr/>
        </p:nvSpPr>
        <p:spPr>
          <a:xfrm>
            <a:off x="4343400" y="2331720"/>
            <a:ext cx="3566160" cy="685800"/>
          </a:xfrm>
          <a:prstGeom prst="rect">
            <a:avLst/>
          </a:prstGeom>
          <a:noFill/>
          <a:ln/>
        </p:spPr>
        <p:txBody>
          <a:bodyPr wrap="square" lIns="0" tIns="0" rIns="0" bIns="0" rtlCol="0" anchor="ctr"/>
          <a:lstStyle/>
          <a:p>
            <a:pPr indent="0" marL="0">
              <a:buNone/>
            </a:pPr>
            <a:r>
              <a:rPr lang="en-US" sz="1300" dirty="0">
                <a:solidFill>
                  <a:srgbClr val="0B0B0B"/>
                </a:solidFill>
                <a:latin typeface="Calibri" pitchFamily="34" charset="0"/>
                <a:ea typeface="Calibri" pitchFamily="34" charset="-122"/>
                <a:cs typeface="Calibri" pitchFamily="34" charset="-120"/>
              </a:rPr>
              <a:t>the same year of driving in the median battery-electric vehicle</a:t>
            </a:r>
            <a:endParaRPr lang="en-US" sz="1300" dirty="0"/>
          </a:p>
        </p:txBody>
      </p:sp>
      <p:sp>
        <p:nvSpPr>
          <p:cNvPr id="7" name="Text 5"/>
          <p:cNvSpPr txBox="1"/>
          <p:nvPr/>
        </p:nvSpPr>
        <p:spPr>
          <a:xfrm>
            <a:off x="8183880" y="1463040"/>
            <a:ext cx="3566160" cy="868680"/>
          </a:xfrm>
          <a:prstGeom prst="rect">
            <a:avLst/>
          </a:prstGeom>
          <a:noFill/>
          <a:ln/>
        </p:spPr>
        <p:txBody>
          <a:bodyPr wrap="square" lIns="0" tIns="0" rIns="0" bIns="0" rtlCol="0" anchor="ctr"/>
          <a:lstStyle/>
          <a:p>
            <a:pPr indent="0" marL="0">
              <a:buNone/>
            </a:pPr>
            <a:r>
              <a:rPr lang="en-US" sz="4400" b="1" dirty="0">
                <a:solidFill>
                  <a:srgbClr val="0B0B0B"/>
                </a:solidFill>
                <a:latin typeface="Calibri" pitchFamily="34" charset="0"/>
                <a:ea typeface="Calibri" pitchFamily="34" charset="-122"/>
                <a:cs typeface="Calibri" pitchFamily="34" charset="-120"/>
              </a:rPr>
              <a:t>$49,855</a:t>
            </a:r>
            <a:endParaRPr lang="en-US" sz="4400" dirty="0"/>
          </a:p>
        </p:txBody>
      </p:sp>
      <p:sp>
        <p:nvSpPr>
          <p:cNvPr id="8" name="Text 6"/>
          <p:cNvSpPr txBox="1"/>
          <p:nvPr/>
        </p:nvSpPr>
        <p:spPr>
          <a:xfrm>
            <a:off x="8183880" y="2331720"/>
            <a:ext cx="3566160" cy="685800"/>
          </a:xfrm>
          <a:prstGeom prst="rect">
            <a:avLst/>
          </a:prstGeom>
          <a:noFill/>
          <a:ln/>
        </p:spPr>
        <p:txBody>
          <a:bodyPr wrap="square" lIns="0" tIns="0" rIns="0" bIns="0" rtlCol="0" anchor="ctr"/>
          <a:lstStyle/>
          <a:p>
            <a:pPr indent="0" marL="0">
              <a:buNone/>
            </a:pPr>
            <a:r>
              <a:rPr lang="en-US" sz="1300" dirty="0">
                <a:solidFill>
                  <a:srgbClr val="0B0B0B"/>
                </a:solidFill>
                <a:latin typeface="Calibri" pitchFamily="34" charset="0"/>
                <a:ea typeface="Calibri" pitchFamily="34" charset="-122"/>
                <a:cs typeface="Calibri" pitchFamily="34" charset="-120"/>
              </a:rPr>
              <a:t>average price actually paid for a new vehicle, July 2026 (KBB)</a:t>
            </a:r>
            <a:endParaRPr lang="en-US" sz="1300" dirty="0"/>
          </a:p>
        </p:txBody>
      </p:sp>
      <p:sp>
        <p:nvSpPr>
          <p:cNvPr id="9" name="Text 7"/>
          <p:cNvSpPr txBox="1"/>
          <p:nvPr/>
        </p:nvSpPr>
        <p:spPr>
          <a:xfrm>
            <a:off x="502920" y="3749040"/>
            <a:ext cx="11155680" cy="822960"/>
          </a:xfrm>
          <a:prstGeom prst="rect">
            <a:avLst/>
          </a:prstGeom>
          <a:noFill/>
          <a:ln/>
        </p:spPr>
        <p:txBody>
          <a:bodyPr wrap="square" lIns="0" tIns="0" rIns="0" bIns="0" rtlCol="0" anchor="ctr"/>
          <a:lstStyle/>
          <a:p>
            <a:pPr indent="0" marL="0">
              <a:buNone/>
            </a:pPr>
            <a:r>
              <a:rPr lang="en-US" sz="1700" dirty="0">
                <a:solidFill>
                  <a:srgbClr val="0B0B0B"/>
                </a:solidFill>
                <a:latin typeface="Calibri" pitchFamily="34" charset="0"/>
                <a:ea typeface="Calibri" pitchFamily="34" charset="-122"/>
                <a:cs typeface="Calibri" pitchFamily="34" charset="-120"/>
              </a:rPr>
              <a:t>MPG is the lever connecting vehicle design to what drivers spend. If MPG can be predicted from design, consumer cost can be predicted from the sales mix.</a:t>
            </a:r>
            <a:endParaRPr lang="en-US" sz="1700" dirty="0"/>
          </a:p>
        </p:txBody>
      </p:sp>
      <p:sp>
        <p:nvSpPr>
          <p:cNvPr id="10" name="Shape 8"/>
          <p:cNvSpPr/>
          <p:nvPr/>
        </p:nvSpPr>
        <p:spPr>
          <a:xfrm>
            <a:off x="502920" y="4754880"/>
            <a:ext cx="11155680" cy="1371600"/>
          </a:xfrm>
          <a:prstGeom prst="roundRect">
            <a:avLst>
              <a:gd name="adj" fmla="val 5333"/>
            </a:avLst>
          </a:prstGeom>
          <a:solidFill>
            <a:srgbClr val="F0EFEC"/>
          </a:solidFill>
          <a:ln/>
        </p:spPr>
      </p:sp>
      <p:sp>
        <p:nvSpPr>
          <p:cNvPr id="11" name="Text 9"/>
          <p:cNvSpPr txBox="1"/>
          <p:nvPr/>
        </p:nvSpPr>
        <p:spPr>
          <a:xfrm>
            <a:off x="777240" y="4983480"/>
            <a:ext cx="10607040" cy="914400"/>
          </a:xfrm>
          <a:prstGeom prst="rect">
            <a:avLst/>
          </a:prstGeom>
          <a:noFill/>
          <a:ln/>
        </p:spPr>
        <p:txBody>
          <a:bodyPr wrap="square" lIns="0" tIns="0" rIns="0" bIns="0" rtlCol="0" anchor="ctr"/>
          <a:lstStyle/>
          <a:p>
            <a:pPr indent="0" marL="0">
              <a:buNone/>
            </a:pPr>
            <a:r>
              <a:rPr lang="en-US" sz="1800" b="1" dirty="0">
                <a:solidFill>
                  <a:srgbClr val="0B0B0B"/>
                </a:solidFill>
                <a:latin typeface="Calibri" pitchFamily="34" charset="0"/>
                <a:ea typeface="Calibri" pitchFamily="34" charset="-122"/>
                <a:cs typeface="Calibri" pitchFamily="34" charset="-120"/>
              </a:rPr>
              <a:t>Research question:  </a:t>
            </a:r>
            <a:pPr indent="0" marL="0">
              <a:buNone/>
            </a:pPr>
            <a:r>
              <a:rPr lang="en-US" sz="1800" dirty="0">
                <a:solidFill>
                  <a:srgbClr val="0B0B0B"/>
                </a:solidFill>
                <a:latin typeface="Calibri" pitchFamily="34" charset="0"/>
                <a:ea typeface="Calibri" pitchFamily="34" charset="-122"/>
                <a:cs typeface="Calibri" pitchFamily="34" charset="-120"/>
              </a:rPr>
              <a:t>which physical design variables predict a vehicle's fuel economy, and how well?</a:t>
            </a:r>
            <a:endParaRPr lang="en-US" sz="1800" dirty="0"/>
          </a:p>
        </p:txBody>
      </p:sp>
      <p:sp>
        <p:nvSpPr>
          <p:cNvPr id="12" name="Text 10"/>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Costs: fueleconomy.gov catalog efficiency x BLS national prices (reports/23_powertrain.md). ATP: Kelley Blue Book / Cox Automotive, July 2026.</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2900" b="1" dirty="0">
                <a:solidFill>
                  <a:srgbClr val="0B0B0B"/>
                </a:solidFill>
                <a:latin typeface="Calibri" pitchFamily="34" charset="0"/>
                <a:ea typeface="Calibri" pitchFamily="34" charset="-122"/>
                <a:cs typeface="Calibri" pitchFamily="34" charset="-120"/>
              </a:rPr>
              <a:t>One dependent variable, four independent variables</a:t>
            </a:r>
            <a:endParaRPr lang="en-US" sz="2900" dirty="0"/>
          </a:p>
        </p:txBody>
      </p:sp>
      <p:sp>
        <p:nvSpPr>
          <p:cNvPr id="3" name="Shape 1"/>
          <p:cNvSpPr/>
          <p:nvPr/>
        </p:nvSpPr>
        <p:spPr>
          <a:xfrm>
            <a:off x="502920" y="1234440"/>
            <a:ext cx="5212080" cy="1371600"/>
          </a:xfrm>
          <a:prstGeom prst="roundRect">
            <a:avLst>
              <a:gd name="adj" fmla="val 5333"/>
            </a:avLst>
          </a:prstGeom>
          <a:solidFill>
            <a:srgbClr val="E6EFFB"/>
          </a:solidFill>
          <a:ln/>
        </p:spPr>
      </p:sp>
      <p:sp>
        <p:nvSpPr>
          <p:cNvPr id="4" name="Text 2"/>
          <p:cNvSpPr txBox="1"/>
          <p:nvPr/>
        </p:nvSpPr>
        <p:spPr>
          <a:xfrm>
            <a:off x="777240" y="1417320"/>
            <a:ext cx="4663440" cy="1005840"/>
          </a:xfrm>
          <a:prstGeom prst="rect">
            <a:avLst/>
          </a:prstGeom>
          <a:noFill/>
          <a:ln/>
        </p:spPr>
        <p:txBody>
          <a:bodyPr wrap="square" lIns="0" tIns="0" rIns="0" bIns="0" rtlCol="0" anchor="ctr"/>
          <a:lstStyle/>
          <a:p>
            <a:pPr indent="0" marL="0">
              <a:buNone/>
            </a:pPr>
            <a:r>
              <a:rPr lang="en-US" sz="1500" b="1" dirty="0">
                <a:solidFill>
                  <a:srgbClr val="2A78D6"/>
                </a:solidFill>
                <a:latin typeface="Calibri" pitchFamily="34" charset="0"/>
                <a:ea typeface="Calibri" pitchFamily="34" charset="-122"/>
                <a:cs typeface="Calibri" pitchFamily="34" charset="-120"/>
              </a:rPr>
              <a:t>DEPENDENT (y):  </a:t>
            </a:r>
            <a:pPr indent="0" marL="0">
              <a:buNone/>
            </a:pPr>
            <a:r>
              <a:rPr lang="en-US" sz="1500" dirty="0">
                <a:solidFill>
                  <a:srgbClr val="0B0B0B"/>
                </a:solidFill>
                <a:latin typeface="Calibri" pitchFamily="34" charset="0"/>
                <a:ea typeface="Calibri" pitchFamily="34" charset="-122"/>
                <a:cs typeface="Calibri" pitchFamily="34" charset="-120"/>
              </a:rPr>
              <a:t>combined MPG — EPA unadjusted 2-cycle, one row per MY2024 combustion model type</a:t>
            </a:r>
            <a:endParaRPr lang="en-US" sz="1500" dirty="0"/>
          </a:p>
        </p:txBody>
      </p:sp>
      <p:sp>
        <p:nvSpPr>
          <p:cNvPr id="5" name="Shape 3"/>
          <p:cNvSpPr/>
          <p:nvPr/>
        </p:nvSpPr>
        <p:spPr>
          <a:xfrm>
            <a:off x="502920" y="2834640"/>
            <a:ext cx="5212080" cy="2651760"/>
          </a:xfrm>
          <a:prstGeom prst="roundRect">
            <a:avLst>
              <a:gd name="adj" fmla="val 2759"/>
            </a:avLst>
          </a:prstGeom>
          <a:solidFill>
            <a:srgbClr val="F0EFEC"/>
          </a:solidFill>
          <a:ln/>
        </p:spPr>
      </p:sp>
      <p:sp>
        <p:nvSpPr>
          <p:cNvPr id="6" name="Text 4"/>
          <p:cNvSpPr txBox="1"/>
          <p:nvPr/>
        </p:nvSpPr>
        <p:spPr>
          <a:xfrm>
            <a:off x="777240" y="3063240"/>
            <a:ext cx="4663440" cy="2286000"/>
          </a:xfrm>
          <a:prstGeom prst="rect">
            <a:avLst/>
          </a:prstGeom>
          <a:noFill/>
          <a:ln/>
        </p:spPr>
        <p:txBody>
          <a:bodyPr wrap="square" lIns="0" tIns="0" rIns="0" bIns="0" rtlCol="0" anchor="ctr"/>
          <a:lstStyle/>
          <a:p>
            <a:pPr indent="0" marL="0">
              <a:lnSpc>
                <a:spcPts val="2600"/>
              </a:lnSpc>
              <a:buNone/>
            </a:pPr>
            <a:r>
              <a:rPr lang="en-US" sz="1600" b="1" dirty="0">
                <a:solidFill>
                  <a:srgbClr val="0B0B0B"/>
                </a:solidFill>
                <a:latin typeface="Calibri" pitchFamily="34" charset="0"/>
                <a:ea typeface="Calibri" pitchFamily="34" charset="-122"/>
                <a:cs typeface="Calibri" pitchFamily="34" charset="-120"/>
              </a:rPr>
              <a:t>INDEPENDENT (x):
</a:t>
            </a:r>
            <a:pPr indent="0" marL="0">
              <a:lnSpc>
                <a:spcPts val="2600"/>
              </a:lnSpc>
              <a:buNone/>
            </a:pPr>
            <a:r>
              <a:rPr lang="en-US" sz="1600" dirty="0">
                <a:solidFill>
                  <a:srgbClr val="0B0B0B"/>
                </a:solidFill>
                <a:latin typeface="Calibri" pitchFamily="34" charset="0"/>
                <a:ea typeface="Calibri" pitchFamily="34" charset="-122"/>
                <a:cs typeface="Calibri" pitchFamily="34" charset="-120"/>
              </a:rPr>
              <a:t>1.  Inertia weight (lbs)</a:t>
            </a:r>
            <a:endParaRPr lang="en-US" sz="1600" dirty="0"/>
          </a:p>
          <a:p>
            <a:pPr indent="0" marL="0">
              <a:lnSpc>
                <a:spcPts val="2600"/>
              </a:lnSpc>
              <a:buNone/>
            </a:pPr>
            <a:r>
              <a:rPr lang="en-US" sz="1600" dirty="0">
                <a:solidFill>
                  <a:srgbClr val="0B0B0B"/>
                </a:solidFill>
                <a:latin typeface="Calibri" pitchFamily="34" charset="0"/>
                <a:ea typeface="Calibri" pitchFamily="34" charset="-122"/>
                <a:cs typeface="Calibri" pitchFamily="34" charset="-120"/>
              </a:rPr>
              <a:t>2.  Rated horsepower</a:t>
            </a:r>
            <a:endParaRPr lang="en-US" sz="1600" dirty="0"/>
          </a:p>
          <a:p>
            <a:pPr indent="0" marL="0">
              <a:lnSpc>
                <a:spcPts val="2600"/>
              </a:lnSpc>
              <a:buNone/>
            </a:pPr>
            <a:r>
              <a:rPr lang="en-US" sz="1600" dirty="0">
                <a:solidFill>
                  <a:srgbClr val="0B0B0B"/>
                </a:solidFill>
                <a:latin typeface="Calibri" pitchFamily="34" charset="0"/>
                <a:ea typeface="Calibri" pitchFamily="34" charset="-122"/>
                <a:cs typeface="Calibri" pitchFamily="34" charset="-120"/>
              </a:rPr>
              <a:t>3.  Footprint (sq ft)</a:t>
            </a:r>
            <a:endParaRPr lang="en-US" sz="1600" dirty="0"/>
          </a:p>
          <a:p>
            <a:pPr indent="0" marL="0">
              <a:lnSpc>
                <a:spcPts val="2600"/>
              </a:lnSpc>
              <a:buNone/>
            </a:pPr>
            <a:r>
              <a:rPr lang="en-US" sz="1600" dirty="0">
                <a:solidFill>
                  <a:srgbClr val="0B0B0B"/>
                </a:solidFill>
                <a:latin typeface="Calibri" pitchFamily="34" charset="0"/>
                <a:ea typeface="Calibri" pitchFamily="34" charset="-122"/>
                <a:cs typeface="Calibri" pitchFamily="34" charset="-120"/>
              </a:rPr>
              <a:t>4.  Hybrid powertrain (0/1)</a:t>
            </a:r>
            <a:endParaRPr lang="en-US" sz="1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126480" y="1234440"/>
          <a:ext cx="5577840" cy="914400"/>
        </p:xfrm>
        <a:graphic>
          <a:graphicData uri="http://schemas.openxmlformats.org/drawingml/2006/table">
            <a:tbl>
              <a:tblPr/>
              <a:tblGrid>
                <a:gridCol w="1554480"/>
                <a:gridCol w="1188720"/>
                <a:gridCol w="2834640"/>
              </a:tblGrid>
              <a:tr h="411480">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Variable</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Expected sign</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Physical reason</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1148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ln(weight)</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more mass to accelerate</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1148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ln(horsepower)</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bigger engine, richer fueling</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1148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footprint</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frontal area and rolling drag</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1148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hybrid</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regenerative braking, engine right-sizing</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bl>
          </a:graphicData>
        </a:graphic>
      </p:graphicFrame>
      <p:sp>
        <p:nvSpPr>
          <p:cNvPr id="8" name="Text 5"/>
          <p:cNvSpPr txBox="1"/>
          <p:nvPr/>
        </p:nvSpPr>
        <p:spPr>
          <a:xfrm>
            <a:off x="6126480" y="3931920"/>
            <a:ext cx="5577840" cy="91440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Hypothesis: all four reject zero, signs as above, and together they explain the majority of MPG variation across the fleet.</a:t>
            </a:r>
            <a:endParaRPr lang="en-US" sz="1500" dirty="0"/>
          </a:p>
        </p:txBody>
      </p:sp>
      <p:sp>
        <p:nvSpPr>
          <p:cNvPr id="9" name="Text 6"/>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EVs excluded from this model: MPGe is a different physical quantity (a separate BEV model appears in backup).</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2900" b="1" dirty="0">
                <a:solidFill>
                  <a:srgbClr val="0B0B0B"/>
                </a:solidFill>
                <a:latin typeface="Calibri" pitchFamily="34" charset="0"/>
                <a:ea typeface="Calibri" pitchFamily="34" charset="-122"/>
                <a:cs typeface="Calibri" pitchFamily="34" charset="-120"/>
              </a:rPr>
              <a:t>The data: EPA's own compliance filings, MY2024</a:t>
            </a:r>
            <a:endParaRPr lang="en-US" sz="29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6675120" cy="914400"/>
        </p:xfrm>
        <a:graphic>
          <a:graphicData uri="http://schemas.openxmlformats.org/drawingml/2006/table">
            <a:tbl>
              <a:tblPr/>
              <a:tblGrid>
                <a:gridCol w="1188720"/>
                <a:gridCol w="1371600"/>
                <a:gridCol w="1371600"/>
                <a:gridCol w="1371600"/>
                <a:gridCol w="1371600"/>
              </a:tblGrid>
              <a:tr h="384048">
                <a:tc>
                  <a:txBody>
                    <a:bodyPr/>
                    <a:lstStyle/>
                    <a:p>
                      <a:pPr indent="0" marL="0">
                        <a:buNone/>
                      </a:pP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MPG (DV)</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Weight (lbs)</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Horsepower</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Footprint (sq ft)</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Min</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11.2</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2,250</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78</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37.2</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Median</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29.3</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4,500</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302</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49.7</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Max</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80.5</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7,000</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1,600</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75.1</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7498080" y="1280160"/>
            <a:ext cx="4206240" cy="4023360"/>
          </a:xfrm>
          <a:prstGeom prst="rect">
            <a:avLst/>
          </a:prstGeom>
          <a:noFill/>
          <a:ln/>
        </p:spPr>
        <p:txBody>
          <a:bodyPr wrap="square" lIns="0" tIns="0" rIns="0" bIns="0" rtlCol="0" anchor="ctr"/>
          <a:lstStyle/>
          <a:p>
            <a:pPr indent="0" marL="0">
              <a:buNone/>
            </a:pPr>
            <a:r>
              <a:rPr lang="en-US" sz="2200" b="1" dirty="0">
                <a:solidFill>
                  <a:srgbClr val="2A78D6"/>
                </a:solidFill>
                <a:latin typeface="Calibri" pitchFamily="34" charset="0"/>
                <a:ea typeface="Calibri" pitchFamily="34" charset="-122"/>
                <a:cs typeface="Calibri" pitchFamily="34" charset="-120"/>
              </a:rPr>
              <a:t>n = 1,025 </a:t>
            </a:r>
            <a:pPr indent="0" marL="0">
              <a:buNone/>
            </a:pPr>
            <a:r>
              <a:rPr lang="en-US" sz="1400" dirty="0">
                <a:solidFill>
                  <a:srgbClr val="0B0B0B"/>
                </a:solidFill>
                <a:latin typeface="Calibri" pitchFamily="34" charset="0"/>
                <a:ea typeface="Calibri" pitchFamily="34" charset="-122"/>
                <a:cs typeface="Calibri" pitchFamily="34" charset="-120"/>
              </a:rPr>
              <a:t>combustion model types — every configuration manufacturers legally filed for model year 2024
</a:t>
            </a:r>
            <a:pPr indent="0" marL="0">
              <a:buNone/>
            </a:pPr>
            <a:r>
              <a:rPr lang="en-US" sz="2200" b="1" dirty="0">
                <a:solidFill>
                  <a:srgbClr val="2A78D6"/>
                </a:solidFill>
                <a:latin typeface="Calibri" pitchFamily="34" charset="0"/>
                <a:ea typeface="Calibri" pitchFamily="34" charset="-122"/>
                <a:cs typeface="Calibri" pitchFamily="34" charset="-120"/>
              </a:rPr>
              <a:t>205:1 </a:t>
            </a:r>
            <a:pPr indent="0" marL="0">
              <a:buNone/>
            </a:pPr>
            <a:r>
              <a:rPr lang="en-US" sz="1400" dirty="0">
                <a:solidFill>
                  <a:srgbClr val="0B0B0B"/>
                </a:solidFill>
                <a:latin typeface="Calibri" pitchFamily="34" charset="0"/>
                <a:ea typeface="Calibri" pitchFamily="34" charset="-122"/>
                <a:cs typeface="Calibri" pitchFamily="34" charset="-120"/>
              </a:rPr>
              <a:t>observations per estimated parameter (course rule of thumb: 10:1)
</a:t>
            </a:r>
            <a:pPr indent="0" marL="0">
              <a:buNone/>
            </a:pPr>
            <a:r>
              <a:rPr lang="en-US" sz="2200" b="1" dirty="0">
                <a:solidFill>
                  <a:srgbClr val="2A78D6"/>
                </a:solidFill>
                <a:latin typeface="Calibri" pitchFamily="34" charset="0"/>
                <a:ea typeface="Calibri" pitchFamily="34" charset="-122"/>
                <a:cs typeface="Calibri" pitchFamily="34" charset="-120"/>
              </a:rPr>
              <a:t>100% </a:t>
            </a:r>
            <a:pPr indent="0" marL="0">
              <a:buNone/>
            </a:pPr>
            <a:r>
              <a:rPr lang="en-US" sz="1400" dirty="0">
                <a:solidFill>
                  <a:srgbClr val="0B0B0B"/>
                </a:solidFill>
                <a:latin typeface="Calibri" pitchFamily="34" charset="0"/>
                <a:ea typeface="Calibri" pitchFamily="34" charset="-122"/>
                <a:cs typeface="Calibri" pitchFamily="34" charset="-120"/>
              </a:rPr>
              <a:t>join rate between the fuel-economy and footprint files on (manufacturer, division, carline)</a:t>
            </a:r>
            <a:endParaRPr lang="en-US" sz="1400" dirty="0"/>
          </a:p>
        </p:txBody>
      </p:sp>
      <p:sp>
        <p:nvSpPr>
          <p:cNvPr id="5" name="Text 2"/>
          <p:cNvSpPr txBox="1"/>
          <p:nvPr/>
        </p:nvSpPr>
        <p:spPr>
          <a:xfrm>
            <a:off x="502920" y="4206240"/>
            <a:ext cx="6675120" cy="1188720"/>
          </a:xfrm>
          <a:prstGeom prst="rect">
            <a:avLst/>
          </a:prstGeom>
          <a:noFill/>
          <a:ln/>
        </p:spPr>
        <p:txBody>
          <a:bodyPr wrap="square" lIns="0" tIns="0" rIns="0" bIns="0" rtlCol="0" anchor="ctr"/>
          <a:lstStyle/>
          <a:p>
            <a:pPr indent="0" marL="0">
              <a:buNone/>
            </a:pPr>
            <a:r>
              <a:rPr lang="en-US" sz="1400" dirty="0">
                <a:solidFill>
                  <a:srgbClr val="0B0B0B"/>
                </a:solidFill>
                <a:latin typeface="Calibri" pitchFamily="34" charset="0"/>
                <a:ea typeface="Calibri" pitchFamily="34" charset="-122"/>
                <a:cs typeface="Calibri" pitchFamily="34" charset="-120"/>
              </a:rPr>
              <a:t>Provenance: every raw file, URL, and checksum is logged (DATA_SOURCES.md); the pipeline is 31 idempotent scripts; rerunning any stage reproduces identical outputs.</a:t>
            </a:r>
            <a:endParaRPr lang="en-US" sz="1400" dirty="0"/>
          </a:p>
        </p:txBody>
      </p:sp>
      <p:sp>
        <p:nvSpPr>
          <p:cNvPr id="6" name="Text 3"/>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EPA Model Year 2024 Fuel Economy &amp; Technology data + Footprint data (epa.gov/automotive-trends); joined in outputs/my2024_config.csv.</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2900" b="1" dirty="0">
                <a:solidFill>
                  <a:srgbClr val="0B0B0B"/>
                </a:solidFill>
                <a:latin typeface="Calibri" pitchFamily="34" charset="0"/>
                <a:ea typeface="Calibri" pitchFamily="34" charset="-122"/>
                <a:cs typeface="Calibri" pitchFamily="34" charset="-120"/>
              </a:rPr>
              <a:t>The relationship is visible before any model is fit</a:t>
            </a:r>
            <a:endParaRPr lang="en-US" sz="2900" dirty="0"/>
          </a:p>
        </p:txBody>
      </p:sp>
      <p:pic>
        <p:nvPicPr>
          <p:cNvPr id="3" name="Image 0" descr="C:\Users\Samson\Desktop\Homework\OS3180\Final Project\charts\fig9_footprint_vs_mpg_2024.png">    </p:cNvPr>
          <p:cNvPicPr>
            <a:picLocks noChangeAspect="1"/>
          </p:cNvPicPr>
          <p:nvPr/>
        </p:nvPicPr>
        <p:blipFill>
          <a:blip r:embed="rId1"/>
          <a:stretch>
            <a:fillRect/>
          </a:stretch>
        </p:blipFill>
        <p:spPr>
          <a:xfrm>
            <a:off x="822960" y="1188720"/>
            <a:ext cx="8382000" cy="5029200"/>
          </a:xfrm>
          <a:prstGeom prst="rect">
            <a:avLst/>
          </a:prstGeom>
        </p:spPr>
      </p:pic>
      <p:sp>
        <p:nvSpPr>
          <p:cNvPr id="4" name="Text 1"/>
          <p:cNvSpPr txBox="1"/>
          <p:nvPr/>
        </p:nvSpPr>
        <p:spPr>
          <a:xfrm>
            <a:off x="822960" y="6263640"/>
            <a:ext cx="10515600" cy="502920"/>
          </a:xfrm>
          <a:prstGeom prst="rect">
            <a:avLst/>
          </a:prstGeom>
          <a:noFill/>
          <a:ln/>
        </p:spPr>
        <p:txBody>
          <a:bodyPr wrap="square" lIns="0" tIns="0" rIns="0" bIns="0" rtlCol="0" anchor="ctr"/>
          <a:lstStyle/>
          <a:p>
            <a:pPr indent="0" marL="0">
              <a:buNone/>
            </a:pPr>
            <a:r>
              <a:rPr lang="en-US" sz="1300" dirty="0">
                <a:solidFill>
                  <a:srgbClr val="6E6C66"/>
                </a:solidFill>
                <a:latin typeface="Calibri" pitchFamily="34" charset="0"/>
                <a:ea typeface="Calibri" pitchFamily="34" charset="-122"/>
                <a:cs typeface="Calibri" pitchFamily="34" charset="-120"/>
              </a:rPr>
              <a:t>Bigger vehicles cluster low, small hybrids high — and the production volume (dot size) sits with the trucks. The regression's job is to separate size, power, and powertrain, which move together.</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2900" b="1" dirty="0">
                <a:solidFill>
                  <a:srgbClr val="0B0B0B"/>
                </a:solidFill>
                <a:latin typeface="Calibri" pitchFamily="34" charset="0"/>
                <a:ea typeface="Calibri" pitchFamily="34" charset="-122"/>
                <a:cs typeface="Calibri" pitchFamily="34" charset="-120"/>
              </a:rPr>
              <a:t>Heavier is thirstier: 10% more weight costs 3.0% of MPG</a:t>
            </a:r>
            <a:endParaRPr lang="en-US" sz="2900" dirty="0"/>
          </a:p>
        </p:txBody>
      </p:sp>
      <p:pic>
        <p:nvPicPr>
          <p:cNvPr id="3" name="Image 0" descr="C:\Users\Samson\Desktop\Homework\OS3180\Final Project\charts\fig47_weight_vs_mpg.png">    </p:cNvPr>
          <p:cNvPicPr>
            <a:picLocks noChangeAspect="1"/>
          </p:cNvPicPr>
          <p:nvPr/>
        </p:nvPicPr>
        <p:blipFill>
          <a:blip r:embed="rId1"/>
          <a:stretch>
            <a:fillRect/>
          </a:stretch>
        </p:blipFill>
        <p:spPr>
          <a:xfrm>
            <a:off x="822960" y="1188720"/>
            <a:ext cx="8382000" cy="5029200"/>
          </a:xfrm>
          <a:prstGeom prst="rect">
            <a:avLst/>
          </a:prstGeom>
        </p:spPr>
      </p:pic>
      <p:sp>
        <p:nvSpPr>
          <p:cNvPr id="4" name="Text 1"/>
          <p:cNvSpPr txBox="1"/>
          <p:nvPr/>
        </p:nvSpPr>
        <p:spPr>
          <a:xfrm>
            <a:off x="822960" y="6263640"/>
            <a:ext cx="10515600" cy="502920"/>
          </a:xfrm>
          <a:prstGeom prst="rect">
            <a:avLst/>
          </a:prstGeom>
          <a:noFill/>
          <a:ln/>
        </p:spPr>
        <p:txBody>
          <a:bodyPr wrap="square" lIns="0" tIns="0" rIns="0" bIns="0" rtlCol="0" anchor="ctr"/>
          <a:lstStyle/>
          <a:p>
            <a:pPr indent="0" marL="0">
              <a:buNone/>
            </a:pPr>
            <a:r>
              <a:rPr lang="en-US" sz="1300" dirty="0">
                <a:solidFill>
                  <a:srgbClr val="6E6C66"/>
                </a:solidFill>
                <a:latin typeface="Calibri" pitchFamily="34" charset="0"/>
                <a:ea typeface="Calibri" pitchFamily="34" charset="-122"/>
                <a:cs typeface="Calibri" pitchFamily="34" charset="-120"/>
              </a:rPr>
              <a:t>Same construction: one dot per carline, dot area = production. The vertical spread at each weight is what the other predictors (power, hybrid) explain.</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2900" b="1" dirty="0">
                <a:solidFill>
                  <a:srgbClr val="0B0B0B"/>
                </a:solidFill>
                <a:latin typeface="Calibri" pitchFamily="34" charset="0"/>
                <a:ea typeface="Calibri" pitchFamily="34" charset="-122"/>
                <a:cs typeface="Calibri" pitchFamily="34" charset="-120"/>
              </a:rPr>
              <a:t>Power is the steepest lever: 10% more HP costs 4.8% of MPG</a:t>
            </a:r>
            <a:endParaRPr lang="en-US" sz="2900" dirty="0"/>
          </a:p>
        </p:txBody>
      </p:sp>
      <p:pic>
        <p:nvPicPr>
          <p:cNvPr id="3" name="Image 0" descr="C:\Users\Samson\Desktop\Homework\OS3180\Final Project\charts\fig48_hp_vs_mpg.png">    </p:cNvPr>
          <p:cNvPicPr>
            <a:picLocks noChangeAspect="1"/>
          </p:cNvPicPr>
          <p:nvPr/>
        </p:nvPicPr>
        <p:blipFill>
          <a:blip r:embed="rId1"/>
          <a:stretch>
            <a:fillRect/>
          </a:stretch>
        </p:blipFill>
        <p:spPr>
          <a:xfrm>
            <a:off x="822960" y="1188720"/>
            <a:ext cx="8382000" cy="5029200"/>
          </a:xfrm>
          <a:prstGeom prst="rect">
            <a:avLst/>
          </a:prstGeom>
        </p:spPr>
      </p:pic>
      <p:sp>
        <p:nvSpPr>
          <p:cNvPr id="4" name="Text 1"/>
          <p:cNvSpPr txBox="1"/>
          <p:nvPr/>
        </p:nvSpPr>
        <p:spPr>
          <a:xfrm>
            <a:off x="822960" y="6263640"/>
            <a:ext cx="10515600" cy="502920"/>
          </a:xfrm>
          <a:prstGeom prst="rect">
            <a:avLst/>
          </a:prstGeom>
          <a:noFill/>
          <a:ln/>
        </p:spPr>
        <p:txBody>
          <a:bodyPr wrap="square" lIns="0" tIns="0" rIns="0" bIns="0" rtlCol="0" anchor="ctr"/>
          <a:lstStyle/>
          <a:p>
            <a:pPr indent="0" marL="0">
              <a:buNone/>
            </a:pPr>
            <a:r>
              <a:rPr lang="en-US" sz="1300" dirty="0">
                <a:solidFill>
                  <a:srgbClr val="6E6C66"/>
                </a:solidFill>
                <a:latin typeface="Calibri" pitchFamily="34" charset="0"/>
                <a:ea typeface="Calibri" pitchFamily="34" charset="-122"/>
                <a:cs typeface="Calibri" pitchFamily="34" charset="-120"/>
              </a:rPr>
              <a:t>The cleanest curve of the three — a power law the log-log model straightens into a line. Horsepower carries the largest elasticity in the fit.</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2900" b="1" dirty="0">
                <a:solidFill>
                  <a:srgbClr val="0B0B0B"/>
                </a:solidFill>
                <a:latin typeface="Calibri" pitchFamily="34" charset="0"/>
                <a:ea typeface="Calibri" pitchFamily="34" charset="-122"/>
                <a:cs typeface="Calibri" pitchFamily="34" charset="-120"/>
              </a:rPr>
              <a:t>Deriving the model: multiplicative physics, linear estimation</a:t>
            </a:r>
            <a:endParaRPr lang="en-US" sz="2900" dirty="0"/>
          </a:p>
        </p:txBody>
      </p:sp>
      <p:sp>
        <p:nvSpPr>
          <p:cNvPr id="3" name="Shape 1"/>
          <p:cNvSpPr/>
          <p:nvPr/>
        </p:nvSpPr>
        <p:spPr>
          <a:xfrm>
            <a:off x="502920" y="1280160"/>
            <a:ext cx="11155680" cy="1188720"/>
          </a:xfrm>
          <a:prstGeom prst="roundRect">
            <a:avLst>
              <a:gd name="adj" fmla="val 6154"/>
            </a:avLst>
          </a:prstGeom>
          <a:solidFill>
            <a:srgbClr val="14181E"/>
          </a:solidFill>
          <a:ln/>
        </p:spPr>
      </p:sp>
      <p:sp>
        <p:nvSpPr>
          <p:cNvPr id="4" name="Text 2"/>
          <p:cNvSpPr txBox="1"/>
          <p:nvPr/>
        </p:nvSpPr>
        <p:spPr>
          <a:xfrm>
            <a:off x="777240" y="1481328"/>
            <a:ext cx="10607040" cy="777240"/>
          </a:xfrm>
          <a:prstGeom prst="rect">
            <a:avLst/>
          </a:prstGeom>
          <a:noFill/>
          <a:ln/>
        </p:spPr>
        <p:txBody>
          <a:bodyPr wrap="square" lIns="0" tIns="0" rIns="0" bIns="0" rtlCol="0" anchor="ctr"/>
          <a:lstStyle/>
          <a:p>
            <a:pPr indent="0" marL="0">
              <a:buNone/>
            </a:pPr>
            <a:r>
              <a:rPr lang="en-US" sz="1800" dirty="0">
                <a:solidFill>
                  <a:srgbClr val="FFFFFF"/>
                </a:solidFill>
                <a:latin typeface="Cambria" pitchFamily="34" charset="0"/>
                <a:ea typeface="Cambria" pitchFamily="34" charset="-122"/>
                <a:cs typeface="Cambria" pitchFamily="34" charset="-120"/>
              </a:rPr>
              <a:t>ln(MPG)  =  8.78  −  0.304·ln(weight)  −  0.483·ln(HP)  −  0.0022·footprint  +  0.207·hybrid  +  ε</a:t>
            </a:r>
            <a:endParaRPr lang="en-US" sz="1800" dirty="0"/>
          </a:p>
        </p:txBody>
      </p:sp>
      <p:sp>
        <p:nvSpPr>
          <p:cNvPr id="5" name="Shape 3"/>
          <p:cNvSpPr/>
          <p:nvPr/>
        </p:nvSpPr>
        <p:spPr>
          <a:xfrm>
            <a:off x="502920" y="2834640"/>
            <a:ext cx="457200" cy="457200"/>
          </a:xfrm>
          <a:prstGeom prst="ellipse">
            <a:avLst/>
          </a:prstGeom>
          <a:solidFill>
            <a:srgbClr val="2A78D6"/>
          </a:solidFill>
          <a:ln/>
        </p:spPr>
      </p:sp>
      <p:sp>
        <p:nvSpPr>
          <p:cNvPr id="6" name="Text 4"/>
          <p:cNvSpPr txBox="1"/>
          <p:nvPr/>
        </p:nvSpPr>
        <p:spPr>
          <a:xfrm>
            <a:off x="502920" y="28346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txBox="1"/>
          <p:nvPr/>
        </p:nvSpPr>
        <p:spPr>
          <a:xfrm>
            <a:off x="502920" y="3429000"/>
            <a:ext cx="3383280" cy="2377440"/>
          </a:xfrm>
          <a:prstGeom prst="rect">
            <a:avLst/>
          </a:prstGeom>
          <a:noFill/>
          <a:ln/>
        </p:spPr>
        <p:txBody>
          <a:bodyPr wrap="square" lIns="0" tIns="0" rIns="0" bIns="0" rtlCol="0" anchor="ctr"/>
          <a:lstStyle/>
          <a:p>
            <a:pPr indent="0" marL="0">
              <a:buNone/>
            </a:pPr>
            <a:r>
              <a:rPr lang="en-US" sz="1400" b="1" dirty="0">
                <a:solidFill>
                  <a:srgbClr val="000000"/>
                </a:solidFill>
                <a:latin typeface="Calibri" pitchFamily="34" charset="0"/>
                <a:ea typeface="Calibri" pitchFamily="34" charset="-122"/>
                <a:cs typeface="Calibri" pitchFamily="34" charset="-120"/>
              </a:rPr>
              <a:t>Multiplicative physics
</a:t>
            </a:r>
            <a:pPr indent="0" marL="0">
              <a:buNone/>
            </a:pPr>
            <a:r>
              <a:rPr lang="en-US" sz="1400" dirty="0">
                <a:solidFill>
                  <a:srgbClr val="0B0B0B"/>
                </a:solidFill>
                <a:latin typeface="Calibri" pitchFamily="34" charset="0"/>
                <a:ea typeface="Calibri" pitchFamily="34" charset="-122"/>
                <a:cs typeface="Calibri" pitchFamily="34" charset="-120"/>
              </a:rPr>
              <a:t>Fuel burn scales with mass moved and power demanded, so effects multiply rather than add. Taking logs turns the multiplicative law into a straight line OLS can estimate.</a:t>
            </a:r>
            <a:endParaRPr lang="en-US" sz="1400" dirty="0"/>
          </a:p>
        </p:txBody>
      </p:sp>
      <p:sp>
        <p:nvSpPr>
          <p:cNvPr id="8" name="Shape 6"/>
          <p:cNvSpPr/>
          <p:nvPr/>
        </p:nvSpPr>
        <p:spPr>
          <a:xfrm>
            <a:off x="4434840" y="2834640"/>
            <a:ext cx="457200" cy="457200"/>
          </a:xfrm>
          <a:prstGeom prst="ellipse">
            <a:avLst/>
          </a:prstGeom>
          <a:solidFill>
            <a:srgbClr val="2A78D6"/>
          </a:solidFill>
          <a:ln/>
        </p:spPr>
      </p:sp>
      <p:sp>
        <p:nvSpPr>
          <p:cNvPr id="9" name="Text 7"/>
          <p:cNvSpPr txBox="1"/>
          <p:nvPr/>
        </p:nvSpPr>
        <p:spPr>
          <a:xfrm>
            <a:off x="4434840" y="28346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0" name="Text 8"/>
          <p:cNvSpPr txBox="1"/>
          <p:nvPr/>
        </p:nvSpPr>
        <p:spPr>
          <a:xfrm>
            <a:off x="4434840" y="3429000"/>
            <a:ext cx="3383280" cy="2377440"/>
          </a:xfrm>
          <a:prstGeom prst="rect">
            <a:avLst/>
          </a:prstGeom>
          <a:noFill/>
          <a:ln/>
        </p:spPr>
        <p:txBody>
          <a:bodyPr wrap="square" lIns="0" tIns="0" rIns="0" bIns="0" rtlCol="0" anchor="ctr"/>
          <a:lstStyle/>
          <a:p>
            <a:pPr indent="0" marL="0">
              <a:buNone/>
            </a:pPr>
            <a:r>
              <a:rPr lang="en-US" sz="1400" b="1" dirty="0">
                <a:solidFill>
                  <a:srgbClr val="000000"/>
                </a:solidFill>
                <a:latin typeface="Calibri" pitchFamily="34" charset="0"/>
                <a:ea typeface="Calibri" pitchFamily="34" charset="-122"/>
                <a:cs typeface="Calibri" pitchFamily="34" charset="-120"/>
              </a:rPr>
              <a:t>Elasticity coefficients
</a:t>
            </a:r>
            <a:pPr indent="0" marL="0">
              <a:buNone/>
            </a:pPr>
            <a:r>
              <a:rPr lang="en-US" sz="1400" dirty="0">
                <a:solidFill>
                  <a:srgbClr val="0B0B0B"/>
                </a:solidFill>
                <a:latin typeface="Calibri" pitchFamily="34" charset="0"/>
                <a:ea typeface="Calibri" pitchFamily="34" charset="-122"/>
                <a:cs typeface="Calibri" pitchFamily="34" charset="-120"/>
              </a:rPr>
              <a:t>In log-log form each coefficient is an elasticity: a 1% change in the predictor moves MPG by that many percent. The hybrid dummy exponentiates to a percent premium.</a:t>
            </a:r>
            <a:endParaRPr lang="en-US" sz="1400" dirty="0"/>
          </a:p>
        </p:txBody>
      </p:sp>
      <p:sp>
        <p:nvSpPr>
          <p:cNvPr id="11" name="Shape 9"/>
          <p:cNvSpPr/>
          <p:nvPr/>
        </p:nvSpPr>
        <p:spPr>
          <a:xfrm>
            <a:off x="8366760" y="2834640"/>
            <a:ext cx="457200" cy="457200"/>
          </a:xfrm>
          <a:prstGeom prst="ellipse">
            <a:avLst/>
          </a:prstGeom>
          <a:solidFill>
            <a:srgbClr val="2A78D6"/>
          </a:solidFill>
          <a:ln/>
        </p:spPr>
      </p:sp>
      <p:sp>
        <p:nvSpPr>
          <p:cNvPr id="12" name="Text 10"/>
          <p:cNvSpPr txBox="1"/>
          <p:nvPr/>
        </p:nvSpPr>
        <p:spPr>
          <a:xfrm>
            <a:off x="8366760" y="28346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3" name="Text 11"/>
          <p:cNvSpPr txBox="1"/>
          <p:nvPr/>
        </p:nvSpPr>
        <p:spPr>
          <a:xfrm>
            <a:off x="8366760" y="3429000"/>
            <a:ext cx="3383280" cy="2377440"/>
          </a:xfrm>
          <a:prstGeom prst="rect">
            <a:avLst/>
          </a:prstGeom>
          <a:noFill/>
          <a:ln/>
        </p:spPr>
        <p:txBody>
          <a:bodyPr wrap="square" lIns="0" tIns="0" rIns="0" bIns="0" rtlCol="0" anchor="ctr"/>
          <a:lstStyle/>
          <a:p>
            <a:pPr indent="0" marL="0">
              <a:buNone/>
            </a:pPr>
            <a:r>
              <a:rPr lang="en-US" sz="1400" b="1" dirty="0">
                <a:solidFill>
                  <a:srgbClr val="000000"/>
                </a:solidFill>
                <a:latin typeface="Calibri" pitchFamily="34" charset="0"/>
                <a:ea typeface="Calibri" pitchFamily="34" charset="-122"/>
                <a:cs typeface="Calibri" pitchFamily="34" charset="-120"/>
              </a:rPr>
              <a:t>Honest uncertainty
</a:t>
            </a:r>
            <a:pPr indent="0" marL="0">
              <a:buNone/>
            </a:pPr>
            <a:r>
              <a:rPr lang="en-US" sz="1400" dirty="0">
                <a:solidFill>
                  <a:srgbClr val="0B0B0B"/>
                </a:solidFill>
                <a:latin typeface="Calibri" pitchFamily="34" charset="0"/>
                <a:ea typeface="Calibri" pitchFamily="34" charset="-122"/>
                <a:cs typeface="Calibri" pitchFamily="34" charset="-120"/>
              </a:rPr>
              <a:t>Ordinary least squares, with HC1 heteroskedasticity-robust standard errors: variance differs across vehicle classes, so robust errors keep the p-values honest.</a:t>
            </a:r>
            <a:endParaRPr lang="en-US" sz="1400" dirty="0"/>
          </a:p>
        </p:txBody>
      </p:sp>
      <p:sp>
        <p:nvSpPr>
          <p:cNvPr id="14" name="Text 12"/>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Fit in 19_final_model.py; full table in reports/19_final_model.md. Alternative specifications in backup.</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2900" b="1" dirty="0">
                <a:solidFill>
                  <a:srgbClr val="0B0B0B"/>
                </a:solidFill>
                <a:latin typeface="Calibri" pitchFamily="34" charset="0"/>
                <a:ea typeface="Calibri" pitchFamily="34" charset="-122"/>
                <a:cs typeface="Calibri" pitchFamily="34" charset="-120"/>
              </a:rPr>
              <a:t>Results: every predictor significant, R² = 0.846</a:t>
            </a:r>
            <a:endParaRPr lang="en-US" sz="2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6949440" cy="914400"/>
        </p:xfrm>
        <a:graphic>
          <a:graphicData uri="http://schemas.openxmlformats.org/drawingml/2006/table">
            <a:tbl>
              <a:tblPr/>
              <a:tblGrid>
                <a:gridCol w="1737360"/>
                <a:gridCol w="1234440"/>
                <a:gridCol w="960120"/>
                <a:gridCol w="868680"/>
                <a:gridCol w="1051560"/>
                <a:gridCol w="1097280"/>
              </a:tblGrid>
              <a:tr h="402336">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Term</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Coefficient</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HC1 SE</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t</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p</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VIF</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intercept</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8.778</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0.274</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32.0</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&lt; 0.001</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ln(weight)</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−0.304</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0.041</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−7.4</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&lt; 0.001</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3.4</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ln(horsepower)</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−0.483</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0.011</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−43.0</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&lt; 0.001</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1.5</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footprint (sq ft)</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−0.0022</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0.0010</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−2.3</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0.022</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2.5</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hybrid</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+0.207</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0.010</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21.2</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&lt; 0.001</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1.1</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7955280" y="1371600"/>
            <a:ext cx="3749040" cy="868680"/>
          </a:xfrm>
          <a:prstGeom prst="rect">
            <a:avLst/>
          </a:prstGeom>
          <a:noFill/>
          <a:ln/>
        </p:spPr>
        <p:txBody>
          <a:bodyPr wrap="square" lIns="0" tIns="0" rIns="0" bIns="0" rtlCol="0" anchor="ctr"/>
          <a:lstStyle/>
          <a:p>
            <a:pPr indent="0" marL="0">
              <a:buNone/>
            </a:pPr>
            <a:r>
              <a:rPr lang="en-US" sz="4400" b="1" dirty="0">
                <a:solidFill>
                  <a:srgbClr val="2A78D6"/>
                </a:solidFill>
                <a:latin typeface="Calibri" pitchFamily="34" charset="0"/>
                <a:ea typeface="Calibri" pitchFamily="34" charset="-122"/>
                <a:cs typeface="Calibri" pitchFamily="34" charset="-120"/>
              </a:rPr>
              <a:t>R² = 0.846</a:t>
            </a:r>
            <a:endParaRPr lang="en-US" sz="4400" dirty="0"/>
          </a:p>
        </p:txBody>
      </p:sp>
      <p:sp>
        <p:nvSpPr>
          <p:cNvPr id="5" name="Text 2"/>
          <p:cNvSpPr txBox="1"/>
          <p:nvPr/>
        </p:nvSpPr>
        <p:spPr>
          <a:xfrm>
            <a:off x="7955280" y="2240280"/>
            <a:ext cx="3749040" cy="685800"/>
          </a:xfrm>
          <a:prstGeom prst="rect">
            <a:avLst/>
          </a:prstGeom>
          <a:noFill/>
          <a:ln/>
        </p:spPr>
        <p:txBody>
          <a:bodyPr wrap="square" lIns="0" tIns="0" rIns="0" bIns="0" rtlCol="0" anchor="ctr"/>
          <a:lstStyle/>
          <a:p>
            <a:pPr indent="0" marL="0">
              <a:buNone/>
            </a:pPr>
            <a:r>
              <a:rPr lang="en-US" sz="1300" dirty="0">
                <a:solidFill>
                  <a:srgbClr val="0B0B0B"/>
                </a:solidFill>
                <a:latin typeface="Calibri" pitchFamily="34" charset="0"/>
                <a:ea typeface="Calibri" pitchFamily="34" charset="-122"/>
                <a:cs typeface="Calibri" pitchFamily="34" charset="-120"/>
              </a:rPr>
              <a:t>adjusted R² 0.845 — the four predictors explain 85% of ln(MPG) variance</a:t>
            </a:r>
            <a:endParaRPr lang="en-US" sz="1300" dirty="0"/>
          </a:p>
        </p:txBody>
      </p:sp>
      <p:sp>
        <p:nvSpPr>
          <p:cNvPr id="6" name="Text 3"/>
          <p:cNvSpPr txBox="1"/>
          <p:nvPr/>
        </p:nvSpPr>
        <p:spPr>
          <a:xfrm>
            <a:off x="7955280" y="3291840"/>
            <a:ext cx="3749040" cy="868680"/>
          </a:xfrm>
          <a:prstGeom prst="rect">
            <a:avLst/>
          </a:prstGeom>
          <a:noFill/>
          <a:ln/>
        </p:spPr>
        <p:txBody>
          <a:bodyPr wrap="square" lIns="0" tIns="0" rIns="0" bIns="0" rtlCol="0" anchor="ctr"/>
          <a:lstStyle/>
          <a:p>
            <a:pPr indent="0" marL="0">
              <a:buNone/>
            </a:pPr>
            <a:r>
              <a:rPr lang="en-US" sz="4400" b="1" dirty="0">
                <a:solidFill>
                  <a:srgbClr val="0B0B0B"/>
                </a:solidFill>
                <a:latin typeface="Calibri" pitchFamily="34" charset="0"/>
                <a:ea typeface="Calibri" pitchFamily="34" charset="-122"/>
                <a:cs typeface="Calibri" pitchFamily="34" charset="-120"/>
              </a:rPr>
              <a:t>F = 1,401</a:t>
            </a:r>
            <a:endParaRPr lang="en-US" sz="4400" dirty="0"/>
          </a:p>
        </p:txBody>
      </p:sp>
      <p:sp>
        <p:nvSpPr>
          <p:cNvPr id="7" name="Text 4"/>
          <p:cNvSpPr txBox="1"/>
          <p:nvPr/>
        </p:nvSpPr>
        <p:spPr>
          <a:xfrm>
            <a:off x="7955280" y="4160520"/>
            <a:ext cx="3749040" cy="685800"/>
          </a:xfrm>
          <a:prstGeom prst="rect">
            <a:avLst/>
          </a:prstGeom>
          <a:noFill/>
          <a:ln/>
        </p:spPr>
        <p:txBody>
          <a:bodyPr wrap="square" lIns="0" tIns="0" rIns="0" bIns="0" rtlCol="0" anchor="ctr"/>
          <a:lstStyle/>
          <a:p>
            <a:pPr indent="0" marL="0">
              <a:buNone/>
            </a:pPr>
            <a:r>
              <a:rPr lang="en-US" sz="1300" dirty="0">
                <a:solidFill>
                  <a:srgbClr val="0B0B0B"/>
                </a:solidFill>
                <a:latin typeface="Calibri" pitchFamily="34" charset="0"/>
                <a:ea typeface="Calibri" pitchFamily="34" charset="-122"/>
                <a:cs typeface="Calibri" pitchFamily="34" charset="-120"/>
              </a:rPr>
              <a:t>F(4, 1020), p &lt; 10⁻¹⁵; VIF ≤ 3.4 = mild, manageable collinearity</a:t>
            </a:r>
            <a:endParaRPr lang="en-US" sz="1300" dirty="0"/>
          </a:p>
        </p:txBody>
      </p:sp>
      <p:sp>
        <p:nvSpPr>
          <p:cNvPr id="8" name="Text 5"/>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OLS with HC1 robust SEs, n = 1,025. Footprint's small coefficient reflects size traveling with weight; dropping it changes nothing (backup).</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2900" b="1" dirty="0">
                <a:solidFill>
                  <a:srgbClr val="0B0B0B"/>
                </a:solidFill>
                <a:latin typeface="Calibri" pitchFamily="34" charset="0"/>
                <a:ea typeface="Calibri" pitchFamily="34" charset="-122"/>
                <a:cs typeface="Calibri" pitchFamily="34" charset="-120"/>
              </a:rPr>
              <a:t>What R² = 0.846 looks like</a:t>
            </a:r>
            <a:endParaRPr lang="en-US" sz="2900" dirty="0"/>
          </a:p>
        </p:txBody>
      </p:sp>
      <p:pic>
        <p:nvPicPr>
          <p:cNvPr id="3" name="Image 0" descr="C:\Users\Samson\Desktop\Homework\OS3180\Final Project\charts\fig31_predicted_vs_actual.png">    </p:cNvPr>
          <p:cNvPicPr>
            <a:picLocks noChangeAspect="1"/>
          </p:cNvPicPr>
          <p:nvPr/>
        </p:nvPicPr>
        <p:blipFill>
          <a:blip r:embed="rId1"/>
          <a:stretch>
            <a:fillRect/>
          </a:stretch>
        </p:blipFill>
        <p:spPr>
          <a:xfrm>
            <a:off x="3108960" y="1051560"/>
            <a:ext cx="6352223" cy="534924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2900" b="1" dirty="0">
                <a:solidFill>
                  <a:srgbClr val="0B0B0B"/>
                </a:solidFill>
                <a:latin typeface="Calibri" pitchFamily="34" charset="0"/>
                <a:ea typeface="Calibri" pitchFamily="34" charset="-122"/>
                <a:cs typeface="Calibri" pitchFamily="34" charset="-120"/>
              </a:rPr>
              <a:t>Raw MPG stalled because design drifted: safer, heavier, stronger</a:t>
            </a:r>
            <a:endParaRPr lang="en-US" sz="2900" dirty="0"/>
          </a:p>
        </p:txBody>
      </p:sp>
      <p:pic>
        <p:nvPicPr>
          <p:cNvPr id="3" name="Image 0" descr="C:\Users\Samson\Desktop\Homework\OS3180\Final Project\charts\fig1_three_acts.png">    </p:cNvPr>
          <p:cNvPicPr>
            <a:picLocks noChangeAspect="1"/>
          </p:cNvPicPr>
          <p:nvPr/>
        </p:nvPicPr>
        <p:blipFill>
          <a:blip r:embed="rId1"/>
          <a:stretch>
            <a:fillRect/>
          </a:stretch>
        </p:blipFill>
        <p:spPr>
          <a:xfrm>
            <a:off x="502920" y="1143000"/>
            <a:ext cx="5582412" cy="5074920"/>
          </a:xfrm>
          <a:prstGeom prst="rect">
            <a:avLst/>
          </a:prstGeom>
        </p:spPr>
      </p:pic>
      <p:sp>
        <p:nvSpPr>
          <p:cNvPr id="4" name="Text 1"/>
          <p:cNvSpPr txBox="1"/>
          <p:nvPr/>
        </p:nvSpPr>
        <p:spPr>
          <a:xfrm>
            <a:off x="8229600" y="1280160"/>
            <a:ext cx="3474720" cy="5120640"/>
          </a:xfrm>
          <a:prstGeom prst="rect">
            <a:avLst/>
          </a:prstGeom>
          <a:noFill/>
          <a:ln/>
        </p:spPr>
        <p:txBody>
          <a:bodyPr wrap="square" lIns="0" tIns="0" rIns="0" bIns="0" rtlCol="0" anchor="ctr"/>
          <a:lstStyle/>
          <a:p>
            <a:pPr indent="0" marL="0">
              <a:buNone/>
            </a:pPr>
            <a:r>
              <a:rPr lang="en-US" sz="1350" b="1" dirty="0">
                <a:solidFill>
                  <a:srgbClr val="0B0B0B"/>
                </a:solidFill>
                <a:latin typeface="Calibri" pitchFamily="34" charset="0"/>
                <a:ea typeface="Calibri" pitchFamily="34" charset="-122"/>
                <a:cs typeface="Calibri" pitchFamily="34" charset="-120"/>
              </a:rPr>
              <a:t>1987–2004: MPG falls 22.0 → 19.3 while the fleet gains 90 HP and 900 lbs.
</a:t>
            </a:r>
            <a:pPr indent="0" marL="0">
              <a:buNone/>
            </a:pPr>
            <a:r>
              <a:rPr lang="en-US" sz="1350" b="1" dirty="0">
                <a:solidFill>
                  <a:srgbClr val="2A78D6"/>
                </a:solidFill>
                <a:latin typeface="Calibri" pitchFamily="34" charset="0"/>
                <a:ea typeface="Calibri" pitchFamily="34" charset="-122"/>
                <a:cs typeface="Calibri" pitchFamily="34" charset="-120"/>
              </a:rPr>
              <a:t>Where the weight came from: </a:t>
            </a:r>
            <a:pPr indent="0" marL="0">
              <a:buNone/>
            </a:pPr>
            <a:r>
              <a:rPr lang="en-US" sz="1350" dirty="0">
                <a:solidFill>
                  <a:srgbClr val="0B0B0B"/>
                </a:solidFill>
                <a:latin typeface="Calibri" pitchFamily="34" charset="0"/>
                <a:ea typeface="Calibri" pitchFamily="34" charset="-122"/>
                <a:cs typeface="Calibri" pitchFamily="34" charset="-120"/>
              </a:rPr>
              <a:t>crash structures, airbags, and content — deaths per 100M miles fell from 3.35 to ~1.2 over these decades.
</a:t>
            </a:r>
            <a:pPr indent="0" marL="0">
              <a:buNone/>
            </a:pPr>
            <a:r>
              <a:rPr lang="en-US" sz="1350" b="1" dirty="0">
                <a:solidFill>
                  <a:srgbClr val="EB6834"/>
                </a:solidFill>
                <a:latin typeface="Calibri" pitchFamily="34" charset="0"/>
                <a:ea typeface="Calibri" pitchFamily="34" charset="-122"/>
                <a:cs typeface="Calibri" pitchFamily="34" charset="-120"/>
              </a:rPr>
              <a:t>Where the power went: </a:t>
            </a:r>
            <a:pPr indent="0" marL="0">
              <a:buNone/>
            </a:pPr>
            <a:r>
              <a:rPr lang="en-US" sz="1350" dirty="0">
                <a:solidFill>
                  <a:srgbClr val="0B0B0B"/>
                </a:solidFill>
                <a:latin typeface="Calibri" pitchFamily="34" charset="0"/>
                <a:ea typeface="Calibri" pitchFamily="34" charset="-122"/>
                <a:cs typeface="Calibri" pitchFamily="34" charset="-120"/>
              </a:rPr>
              <a:t>the market bought acceleration — 0-60 halved from 13.4 s to 7.5 s.
</a:t>
            </a:r>
            <a:pPr indent="0" marL="0">
              <a:buNone/>
            </a:pPr>
            <a:r>
              <a:rPr lang="en-US" sz="1350" i="1" dirty="0">
                <a:solidFill>
                  <a:srgbClr val="6E6C66"/>
                </a:solidFill>
                <a:latin typeface="Calibri" pitchFamily="34" charset="0"/>
                <a:ea typeface="Calibri" pitchFamily="34" charset="-122"/>
                <a:cs typeface="Calibri" pitchFamily="34" charset="-120"/>
              </a:rPr>
              <a:t>So raw MPG confounds technology with taste and regulation. To see technology itself, hold the design constant — the normalization our equation makes possible.</a:t>
            </a:r>
            <a:endParaRPr lang="en-US" sz="1350" dirty="0"/>
          </a:p>
        </p:txBody>
      </p:sp>
      <p:sp>
        <p:nvSpPr>
          <p:cNvPr id="5" name="Text 2"/>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EPA Automotive Trends; fatality rate from BTS Table 2-17 (backup has the full safety chart). Era breaks confirmed by changepoint search (backup).</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2900" b="1" dirty="0">
                <a:solidFill>
                  <a:srgbClr val="0B0B0B"/>
                </a:solidFill>
                <a:latin typeface="Calibri" pitchFamily="34" charset="0"/>
                <a:ea typeface="Calibri" pitchFamily="34" charset="-122"/>
                <a:cs typeface="Calibri" pitchFamily="34" charset="-120"/>
              </a:rPr>
              <a:t>The exchange rate: what power and mass cost in MPG</a:t>
            </a:r>
            <a:endParaRPr lang="en-US" sz="2900" dirty="0"/>
          </a:p>
        </p:txBody>
      </p:sp>
      <p:sp>
        <p:nvSpPr>
          <p:cNvPr id="3" name="Text 1"/>
          <p:cNvSpPr txBox="1"/>
          <p:nvPr/>
        </p:nvSpPr>
        <p:spPr>
          <a:xfrm>
            <a:off x="502920" y="1325880"/>
            <a:ext cx="3566160" cy="868680"/>
          </a:xfrm>
          <a:prstGeom prst="rect">
            <a:avLst/>
          </a:prstGeom>
          <a:noFill/>
          <a:ln/>
        </p:spPr>
        <p:txBody>
          <a:bodyPr wrap="square" lIns="0" tIns="0" rIns="0" bIns="0" rtlCol="0" anchor="ctr"/>
          <a:lstStyle/>
          <a:p>
            <a:pPr indent="0" marL="0">
              <a:buNone/>
            </a:pPr>
            <a:r>
              <a:rPr lang="en-US" sz="4400" b="1" dirty="0">
                <a:solidFill>
                  <a:srgbClr val="EB6834"/>
                </a:solidFill>
                <a:latin typeface="Calibri" pitchFamily="34" charset="0"/>
                <a:ea typeface="Calibri" pitchFamily="34" charset="-122"/>
                <a:cs typeface="Calibri" pitchFamily="34" charset="-120"/>
              </a:rPr>
              <a:t>−4.8%</a:t>
            </a:r>
            <a:endParaRPr lang="en-US" sz="4400" dirty="0"/>
          </a:p>
        </p:txBody>
      </p:sp>
      <p:sp>
        <p:nvSpPr>
          <p:cNvPr id="4" name="Text 2"/>
          <p:cNvSpPr txBox="1"/>
          <p:nvPr/>
        </p:nvSpPr>
        <p:spPr>
          <a:xfrm>
            <a:off x="502920" y="2194560"/>
            <a:ext cx="3566160" cy="685800"/>
          </a:xfrm>
          <a:prstGeom prst="rect">
            <a:avLst/>
          </a:prstGeom>
          <a:noFill/>
          <a:ln/>
        </p:spPr>
        <p:txBody>
          <a:bodyPr wrap="square" lIns="0" tIns="0" rIns="0" bIns="0" rtlCol="0" anchor="ctr"/>
          <a:lstStyle/>
          <a:p>
            <a:pPr indent="0" marL="0">
              <a:buNone/>
            </a:pPr>
            <a:r>
              <a:rPr lang="en-US" sz="1300" dirty="0">
                <a:solidFill>
                  <a:srgbClr val="0B0B0B"/>
                </a:solidFill>
                <a:latin typeface="Calibri" pitchFamily="34" charset="0"/>
                <a:ea typeface="Calibri" pitchFamily="34" charset="-122"/>
                <a:cs typeface="Calibri" pitchFamily="34" charset="-120"/>
              </a:rPr>
              <a:t>MPG cost of a 10% horsepower increase — the steepest lever</a:t>
            </a:r>
            <a:endParaRPr lang="en-US" sz="1300" dirty="0"/>
          </a:p>
        </p:txBody>
      </p:sp>
      <p:sp>
        <p:nvSpPr>
          <p:cNvPr id="5" name="Text 3"/>
          <p:cNvSpPr txBox="1"/>
          <p:nvPr/>
        </p:nvSpPr>
        <p:spPr>
          <a:xfrm>
            <a:off x="4343400" y="1325880"/>
            <a:ext cx="3566160" cy="868680"/>
          </a:xfrm>
          <a:prstGeom prst="rect">
            <a:avLst/>
          </a:prstGeom>
          <a:noFill/>
          <a:ln/>
        </p:spPr>
        <p:txBody>
          <a:bodyPr wrap="square" lIns="0" tIns="0" rIns="0" bIns="0" rtlCol="0" anchor="ctr"/>
          <a:lstStyle/>
          <a:p>
            <a:pPr indent="0" marL="0">
              <a:buNone/>
            </a:pPr>
            <a:r>
              <a:rPr lang="en-US" sz="4400" b="1" dirty="0">
                <a:solidFill>
                  <a:srgbClr val="0B0B0B"/>
                </a:solidFill>
                <a:latin typeface="Calibri" pitchFamily="34" charset="0"/>
                <a:ea typeface="Calibri" pitchFamily="34" charset="-122"/>
                <a:cs typeface="Calibri" pitchFamily="34" charset="-120"/>
              </a:rPr>
              <a:t>−3.0%</a:t>
            </a:r>
            <a:endParaRPr lang="en-US" sz="4400" dirty="0"/>
          </a:p>
        </p:txBody>
      </p:sp>
      <p:sp>
        <p:nvSpPr>
          <p:cNvPr id="6" name="Text 4"/>
          <p:cNvSpPr txBox="1"/>
          <p:nvPr/>
        </p:nvSpPr>
        <p:spPr>
          <a:xfrm>
            <a:off x="4343400" y="2194560"/>
            <a:ext cx="3566160" cy="685800"/>
          </a:xfrm>
          <a:prstGeom prst="rect">
            <a:avLst/>
          </a:prstGeom>
          <a:noFill/>
          <a:ln/>
        </p:spPr>
        <p:txBody>
          <a:bodyPr wrap="square" lIns="0" tIns="0" rIns="0" bIns="0" rtlCol="0" anchor="ctr"/>
          <a:lstStyle/>
          <a:p>
            <a:pPr indent="0" marL="0">
              <a:buNone/>
            </a:pPr>
            <a:r>
              <a:rPr lang="en-US" sz="1300" dirty="0">
                <a:solidFill>
                  <a:srgbClr val="0B0B0B"/>
                </a:solidFill>
                <a:latin typeface="Calibri" pitchFamily="34" charset="0"/>
                <a:ea typeface="Calibri" pitchFamily="34" charset="-122"/>
                <a:cs typeface="Calibri" pitchFamily="34" charset="-120"/>
              </a:rPr>
              <a:t>MPG cost of 10% more weight, holding power and size fixed</a:t>
            </a:r>
            <a:endParaRPr lang="en-US" sz="1300" dirty="0"/>
          </a:p>
        </p:txBody>
      </p:sp>
      <p:sp>
        <p:nvSpPr>
          <p:cNvPr id="7" name="Text 5"/>
          <p:cNvSpPr txBox="1"/>
          <p:nvPr/>
        </p:nvSpPr>
        <p:spPr>
          <a:xfrm>
            <a:off x="8183880" y="1325880"/>
            <a:ext cx="3566160" cy="868680"/>
          </a:xfrm>
          <a:prstGeom prst="rect">
            <a:avLst/>
          </a:prstGeom>
          <a:noFill/>
          <a:ln/>
        </p:spPr>
        <p:txBody>
          <a:bodyPr wrap="square" lIns="0" tIns="0" rIns="0" bIns="0" rtlCol="0" anchor="ctr"/>
          <a:lstStyle/>
          <a:p>
            <a:pPr indent="0" marL="0">
              <a:buNone/>
            </a:pPr>
            <a:r>
              <a:rPr lang="en-US" sz="4400" b="1" dirty="0">
                <a:solidFill>
                  <a:srgbClr val="1BAF7A"/>
                </a:solidFill>
                <a:latin typeface="Calibri" pitchFamily="34" charset="0"/>
                <a:ea typeface="Calibri" pitchFamily="34" charset="-122"/>
                <a:cs typeface="Calibri" pitchFamily="34" charset="-120"/>
              </a:rPr>
              <a:t>+23%</a:t>
            </a:r>
            <a:endParaRPr lang="en-US" sz="4400" dirty="0"/>
          </a:p>
        </p:txBody>
      </p:sp>
      <p:sp>
        <p:nvSpPr>
          <p:cNvPr id="8" name="Text 6"/>
          <p:cNvSpPr txBox="1"/>
          <p:nvPr/>
        </p:nvSpPr>
        <p:spPr>
          <a:xfrm>
            <a:off x="8183880" y="2194560"/>
            <a:ext cx="3566160" cy="685800"/>
          </a:xfrm>
          <a:prstGeom prst="rect">
            <a:avLst/>
          </a:prstGeom>
          <a:noFill/>
          <a:ln/>
        </p:spPr>
        <p:txBody>
          <a:bodyPr wrap="square" lIns="0" tIns="0" rIns="0" bIns="0" rtlCol="0" anchor="ctr"/>
          <a:lstStyle/>
          <a:p>
            <a:pPr indent="0" marL="0">
              <a:buNone/>
            </a:pPr>
            <a:r>
              <a:rPr lang="en-US" sz="1300" dirty="0">
                <a:solidFill>
                  <a:srgbClr val="0B0B0B"/>
                </a:solidFill>
                <a:latin typeface="Calibri" pitchFamily="34" charset="0"/>
                <a:ea typeface="Calibri" pitchFamily="34" charset="-122"/>
                <a:cs typeface="Calibri" pitchFamily="34" charset="-120"/>
              </a:rPr>
              <a:t>fuel-economy premium of a hybrid powertrain at identical weight, power, size</a:t>
            </a:r>
            <a:endParaRPr lang="en-US" sz="1300" dirty="0"/>
          </a:p>
        </p:txBody>
      </p:sp>
      <p:pic>
        <p:nvPicPr>
          <p:cNvPr id="9" name="Image 0" descr="C:\Users\Samson\Desktop\Homework\OS3180\Final Project\charts\fig22_allocation_proof.png">    </p:cNvPr>
          <p:cNvPicPr>
            <a:picLocks noChangeAspect="1"/>
          </p:cNvPicPr>
          <p:nvPr/>
        </p:nvPicPr>
        <p:blipFill>
          <a:blip r:embed="rId1"/>
          <a:stretch>
            <a:fillRect/>
          </a:stretch>
        </p:blipFill>
        <p:spPr>
          <a:xfrm>
            <a:off x="502920" y="3291840"/>
            <a:ext cx="5353665" cy="3017520"/>
          </a:xfrm>
          <a:prstGeom prst="rect">
            <a:avLst/>
          </a:prstGeom>
        </p:spPr>
      </p:pic>
      <p:sp>
        <p:nvSpPr>
          <p:cNvPr id="10" name="Text 7"/>
          <p:cNvSpPr txBox="1"/>
          <p:nvPr/>
        </p:nvSpPr>
        <p:spPr>
          <a:xfrm>
            <a:off x="5669280" y="3429000"/>
            <a:ext cx="6035040" cy="2651760"/>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First proof that the trough was allocation, not stagnation: </a:t>
            </a:r>
            <a:pPr indent="0" marL="0">
              <a:buNone/>
            </a:pPr>
            <a:r>
              <a:rPr lang="en-US" sz="1500" dirty="0">
                <a:solidFill>
                  <a:srgbClr val="0B0B0B"/>
                </a:solidFill>
                <a:latin typeface="Calibri" pitchFamily="34" charset="0"/>
                <a:ea typeface="Calibri" pitchFamily="34" charset="-122"/>
                <a:cs typeface="Calibri" pitchFamily="34" charset="-120"/>
              </a:rPr>
              <a:t>weight-normalized efficiency (ton-MPG) climbed every single year of 1987–2004. The elasticities price the trade: the industry bought acceleration and size with fuel economy at about half a percent of MPG per percent of horsepower.</a:t>
            </a:r>
            <a:endParaRPr lang="en-US" sz="1500" dirty="0"/>
          </a:p>
        </p:txBody>
      </p:sp>
      <p:sp>
        <p:nvSpPr>
          <p:cNvPr id="11" name="Text 8"/>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Elasticities from the log-log fit. Left: fig22 — ton-MPG changepoint analysis (validation A).</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2900" b="1" dirty="0">
                <a:solidFill>
                  <a:srgbClr val="0B0B0B"/>
                </a:solidFill>
                <a:latin typeface="Calibri" pitchFamily="34" charset="0"/>
                <a:ea typeface="Calibri" pitchFamily="34" charset="-122"/>
                <a:cs typeface="Calibri" pitchFamily="34" charset="-120"/>
              </a:rPr>
              <a:t>How we normalized: divide out the design, keep the technology</a:t>
            </a:r>
            <a:endParaRPr lang="en-US" sz="2900" dirty="0"/>
          </a:p>
        </p:txBody>
      </p:sp>
      <p:sp>
        <p:nvSpPr>
          <p:cNvPr id="3" name="Shape 1"/>
          <p:cNvSpPr/>
          <p:nvPr/>
        </p:nvSpPr>
        <p:spPr>
          <a:xfrm>
            <a:off x="502920" y="1325880"/>
            <a:ext cx="457200" cy="457200"/>
          </a:xfrm>
          <a:prstGeom prst="ellipse">
            <a:avLst/>
          </a:prstGeom>
          <a:solidFill>
            <a:srgbClr val="2A78D6"/>
          </a:solidFill>
          <a:ln/>
        </p:spPr>
      </p:sp>
      <p:sp>
        <p:nvSpPr>
          <p:cNvPr id="4" name="Text 2"/>
          <p:cNvSpPr txBox="1"/>
          <p:nvPr/>
        </p:nvSpPr>
        <p:spPr>
          <a:xfrm>
            <a:off x="50292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5" name="Text 3"/>
          <p:cNvSpPr txBox="1"/>
          <p:nvPr/>
        </p:nvSpPr>
        <p:spPr>
          <a:xfrm>
            <a:off x="502920" y="1920240"/>
            <a:ext cx="3383280" cy="2011680"/>
          </a:xfrm>
          <a:prstGeom prst="rect">
            <a:avLst/>
          </a:prstGeom>
          <a:noFill/>
          <a:ln/>
        </p:spPr>
        <p:txBody>
          <a:bodyPr wrap="square" lIns="0" tIns="0" rIns="0" bIns="0" rtlCol="0" anchor="ctr"/>
          <a:lstStyle/>
          <a:p>
            <a:pPr indent="0" marL="0">
              <a:buNone/>
            </a:pPr>
            <a:r>
              <a:rPr lang="en-US" sz="1350" b="1" dirty="0">
                <a:solidFill>
                  <a:srgbClr val="000000"/>
                </a:solidFill>
                <a:latin typeface="Calibri" pitchFamily="34" charset="0"/>
                <a:ea typeface="Calibri" pitchFamily="34" charset="-122"/>
                <a:cs typeface="Calibri" pitchFamily="34" charset="-120"/>
              </a:rPr>
              <a:t>The model gives exchange rates
</a:t>
            </a:r>
            <a:pPr indent="0" marL="0">
              <a:buNone/>
            </a:pPr>
            <a:r>
              <a:rPr lang="en-US" sz="1350" dirty="0">
                <a:solidFill>
                  <a:srgbClr val="0B0B0B"/>
                </a:solidFill>
                <a:latin typeface="Calibri" pitchFamily="34" charset="0"/>
                <a:ea typeface="Calibri" pitchFamily="34" charset="-122"/>
                <a:cs typeface="Calibri" pitchFamily="34" charset="-120"/>
              </a:rPr>
              <a:t>MPG scales with weight^-0.304 and HP^-0.483 (the elasticities we just estimated). Those exponents price what design costs in fuel economy.</a:t>
            </a:r>
            <a:endParaRPr lang="en-US" sz="1350" dirty="0"/>
          </a:p>
        </p:txBody>
      </p:sp>
      <p:sp>
        <p:nvSpPr>
          <p:cNvPr id="6" name="Shape 4"/>
          <p:cNvSpPr/>
          <p:nvPr/>
        </p:nvSpPr>
        <p:spPr>
          <a:xfrm>
            <a:off x="4434840" y="1325880"/>
            <a:ext cx="457200" cy="457200"/>
          </a:xfrm>
          <a:prstGeom prst="ellipse">
            <a:avLst/>
          </a:prstGeom>
          <a:solidFill>
            <a:srgbClr val="2A78D6"/>
          </a:solidFill>
          <a:ln/>
        </p:spPr>
      </p:sp>
      <p:sp>
        <p:nvSpPr>
          <p:cNvPr id="7" name="Text 5"/>
          <p:cNvSpPr txBox="1"/>
          <p:nvPr/>
        </p:nvSpPr>
        <p:spPr>
          <a:xfrm>
            <a:off x="443484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8" name="Text 6"/>
          <p:cNvSpPr txBox="1"/>
          <p:nvPr/>
        </p:nvSpPr>
        <p:spPr>
          <a:xfrm>
            <a:off x="4434840" y="1920240"/>
            <a:ext cx="3383280" cy="2011680"/>
          </a:xfrm>
          <a:prstGeom prst="rect">
            <a:avLst/>
          </a:prstGeom>
          <a:noFill/>
          <a:ln/>
        </p:spPr>
        <p:txBody>
          <a:bodyPr wrap="square" lIns="0" tIns="0" rIns="0" bIns="0" rtlCol="0" anchor="ctr"/>
          <a:lstStyle/>
          <a:p>
            <a:pPr indent="0" marL="0">
              <a:buNone/>
            </a:pPr>
            <a:r>
              <a:rPr lang="en-US" sz="1350" b="1" dirty="0">
                <a:solidFill>
                  <a:srgbClr val="000000"/>
                </a:solidFill>
                <a:latin typeface="Calibri" pitchFamily="34" charset="0"/>
                <a:ea typeface="Calibri" pitchFamily="34" charset="-122"/>
                <a:cs typeface="Calibri" pitchFamily="34" charset="-120"/>
              </a:rPr>
              <a:t>Re-price every year at 2024 design
</a:t>
            </a:r>
            <a:pPr indent="0" marL="0">
              <a:buNone/>
            </a:pPr>
            <a:r>
              <a:rPr lang="en-US" sz="1350" dirty="0">
                <a:solidFill>
                  <a:srgbClr val="0B0B0B"/>
                </a:solidFill>
                <a:latin typeface="Calibri" pitchFamily="34" charset="0"/>
                <a:ea typeface="Calibri" pitchFamily="34" charset="-122"/>
                <a:cs typeface="Calibri" pitchFamily="34" charset="-120"/>
              </a:rPr>
              <a:t>Multiply each year's fleet MPG by (weight/weight2024)^0.304 x (HP/HP2024)^0.483 — scaling away the advantage of being lighter and weaker than 2024.</a:t>
            </a:r>
            <a:endParaRPr lang="en-US" sz="1350" dirty="0"/>
          </a:p>
        </p:txBody>
      </p:sp>
      <p:sp>
        <p:nvSpPr>
          <p:cNvPr id="9" name="Shape 7"/>
          <p:cNvSpPr/>
          <p:nvPr/>
        </p:nvSpPr>
        <p:spPr>
          <a:xfrm>
            <a:off x="8366760" y="1325880"/>
            <a:ext cx="457200" cy="457200"/>
          </a:xfrm>
          <a:prstGeom prst="ellipse">
            <a:avLst/>
          </a:prstGeom>
          <a:solidFill>
            <a:srgbClr val="2A78D6"/>
          </a:solidFill>
          <a:ln/>
        </p:spPr>
      </p:sp>
      <p:sp>
        <p:nvSpPr>
          <p:cNvPr id="10" name="Text 8"/>
          <p:cNvSpPr txBox="1"/>
          <p:nvPr/>
        </p:nvSpPr>
        <p:spPr>
          <a:xfrm>
            <a:off x="836676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1" name="Text 9"/>
          <p:cNvSpPr txBox="1"/>
          <p:nvPr/>
        </p:nvSpPr>
        <p:spPr>
          <a:xfrm>
            <a:off x="8366760" y="1920240"/>
            <a:ext cx="3383280" cy="2011680"/>
          </a:xfrm>
          <a:prstGeom prst="rect">
            <a:avLst/>
          </a:prstGeom>
          <a:noFill/>
          <a:ln/>
        </p:spPr>
        <p:txBody>
          <a:bodyPr wrap="square" lIns="0" tIns="0" rIns="0" bIns="0" rtlCol="0" anchor="ctr"/>
          <a:lstStyle/>
          <a:p>
            <a:pPr indent="0" marL="0">
              <a:buNone/>
            </a:pPr>
            <a:r>
              <a:rPr lang="en-US" sz="1350" b="1" dirty="0">
                <a:solidFill>
                  <a:srgbClr val="000000"/>
                </a:solidFill>
                <a:latin typeface="Calibri" pitchFamily="34" charset="0"/>
                <a:ea typeface="Calibri" pitchFamily="34" charset="-122"/>
                <a:cs typeface="Calibri" pitchFamily="34" charset="-120"/>
              </a:rPr>
              <a:t>What remains is technology
</a:t>
            </a:r>
            <a:pPr indent="0" marL="0">
              <a:buNone/>
            </a:pPr>
            <a:r>
              <a:rPr lang="en-US" sz="1350" dirty="0">
                <a:solidFill>
                  <a:srgbClr val="0B0B0B"/>
                </a:solidFill>
                <a:latin typeface="Calibri" pitchFamily="34" charset="0"/>
                <a:ea typeface="Calibri" pitchFamily="34" charset="-122"/>
                <a:cs typeface="Calibri" pitchFamily="34" charset="-120"/>
              </a:rPr>
              <a:t>Every year now describes the same hypothetical vehicle — 2024's weight and power — built with that year's engineering. One moving part instead of three.</a:t>
            </a:r>
            <a:endParaRPr lang="en-US" sz="1350" dirty="0"/>
          </a:p>
        </p:txBody>
      </p:sp>
      <p:sp>
        <p:nvSpPr>
          <p:cNvPr id="12" name="Shape 10"/>
          <p:cNvSpPr/>
          <p:nvPr/>
        </p:nvSpPr>
        <p:spPr>
          <a:xfrm>
            <a:off x="502920" y="4160520"/>
            <a:ext cx="11155680" cy="1783080"/>
          </a:xfrm>
          <a:prstGeom prst="roundRect">
            <a:avLst>
              <a:gd name="adj" fmla="val 4103"/>
            </a:avLst>
          </a:prstGeom>
          <a:solidFill>
            <a:srgbClr val="F0EFEC"/>
          </a:solidFill>
          <a:ln/>
        </p:spPr>
      </p:sp>
      <p:sp>
        <p:nvSpPr>
          <p:cNvPr id="13" name="Text 11"/>
          <p:cNvSpPr txBox="1"/>
          <p:nvPr/>
        </p:nvSpPr>
        <p:spPr>
          <a:xfrm>
            <a:off x="777240" y="4343400"/>
            <a:ext cx="10607040" cy="1463040"/>
          </a:xfrm>
          <a:prstGeom prst="rect">
            <a:avLst/>
          </a:prstGeom>
          <a:noFill/>
          <a:ln/>
        </p:spPr>
        <p:txBody>
          <a:bodyPr wrap="square" lIns="0" tIns="0" rIns="0" bIns="0" rtlCol="0" anchor="ctr"/>
          <a:lstStyle/>
          <a:p>
            <a:pPr indent="0" marL="0">
              <a:buNone/>
            </a:pPr>
            <a:r>
              <a:rPr lang="en-US" sz="1350" b="1" dirty="0">
                <a:solidFill>
                  <a:srgbClr val="0B0B0B"/>
                </a:solidFill>
                <a:latin typeface="Calibri" pitchFamily="34" charset="0"/>
                <a:ea typeface="Calibri" pitchFamily="34" charset="-122"/>
                <a:cs typeface="Calibri" pitchFamily="34" charset="-120"/>
              </a:rPr>
              <a:t>Worked example — 1987:  </a:t>
            </a:r>
            <a:pPr indent="0" marL="0">
              <a:buNone/>
            </a:pPr>
            <a:r>
              <a:rPr lang="en-US" sz="1350" dirty="0">
                <a:solidFill>
                  <a:srgbClr val="0B0B0B"/>
                </a:solidFill>
                <a:latin typeface="Calibri" pitchFamily="34" charset="0"/>
                <a:ea typeface="Calibri" pitchFamily="34" charset="-122"/>
                <a:cs typeface="Calibri" pitchFamily="34" charset="-120"/>
              </a:rPr>
              <a:t>raw fleet MPG 22.0, but the fleet weighed 3,221 lbs with 118 HP vs 2024's 4,354 lbs and 258 HP.
</a:t>
            </a:r>
            <a:pPr indent="0" marL="0">
              <a:buNone/>
            </a:pPr>
            <a:r>
              <a:rPr lang="en-US" sz="1700" b="1" dirty="0">
                <a:solidFill>
                  <a:srgbClr val="0B0B0B"/>
                </a:solidFill>
                <a:latin typeface="Cambria" pitchFamily="34" charset="0"/>
                <a:ea typeface="Cambria" pitchFamily="34" charset="-122"/>
                <a:cs typeface="Cambria" pitchFamily="34" charset="-120"/>
              </a:rPr>
              <a:t>22.0  ×  (3221/4354)^0.304  ×  (118/258)^0.483   =   22.0 × 0.91 × 0.69   ≈   13.8</a:t>
            </a:r>
            <a:pPr indent="0" marL="0">
              <a:buNone/>
            </a:pPr>
            <a:endParaRPr lang="en-US" sz="1350" dirty="0"/>
          </a:p>
          <a:p>
            <a:pPr indent="0" marL="0">
              <a:buNone/>
            </a:pPr>
            <a:r>
              <a:rPr lang="en-US" sz="1350" dirty="0">
                <a:solidFill>
                  <a:srgbClr val="0B0B0B"/>
                </a:solidFill>
                <a:latin typeface="Calibri" pitchFamily="34" charset="0"/>
                <a:ea typeface="Calibri" pitchFamily="34" charset="-122"/>
                <a:cs typeface="Calibri" pitchFamily="34" charset="-120"/>
              </a:rPr>
              <a:t>1987's technology, asked to move 2024's fleet, delivers ~14 MPG — not 22. That is the normalized point plotted for 1987.</a:t>
            </a:r>
            <a:endParaRPr lang="en-US" sz="1350" dirty="0"/>
          </a:p>
        </p:txBody>
      </p:sp>
      <p:sp>
        <p:nvSpPr>
          <p:cNvPr id="14" name="Text 12"/>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Elasticities from the stage-19 fit; construction in 29_productivity.py. Assumption stated on the limitations slide: 2024 elasticities held across eras.</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2900" b="1" dirty="0">
                <a:solidFill>
                  <a:srgbClr val="0B0B0B"/>
                </a:solidFill>
                <a:latin typeface="Calibri" pitchFamily="34" charset="0"/>
                <a:ea typeface="Calibri" pitchFamily="34" charset="-122"/>
                <a:cs typeface="Calibri" pitchFamily="34" charset="-120"/>
              </a:rPr>
              <a:t>Normalize the design away, and efficiency never stalled</a:t>
            </a:r>
            <a:endParaRPr lang="en-US" sz="2900" dirty="0"/>
          </a:p>
        </p:txBody>
      </p:sp>
      <p:pic>
        <p:nvPicPr>
          <p:cNvPr id="3" name="Image 0" descr="C:\Users\Samson\Desktop\Homework\OS3180\Final Project\charts\fig45_ice_productivity.png">    </p:cNvPr>
          <p:cNvPicPr>
            <a:picLocks noChangeAspect="1"/>
          </p:cNvPicPr>
          <p:nvPr/>
        </p:nvPicPr>
        <p:blipFill>
          <a:blip r:embed="rId1"/>
          <a:stretch>
            <a:fillRect/>
          </a:stretch>
        </p:blipFill>
        <p:spPr>
          <a:xfrm>
            <a:off x="502920" y="1188720"/>
            <a:ext cx="7700963" cy="4480560"/>
          </a:xfrm>
          <a:prstGeom prst="rect">
            <a:avLst/>
          </a:prstGeom>
        </p:spPr>
      </p:pic>
      <p:sp>
        <p:nvSpPr>
          <p:cNvPr id="4" name="Text 1"/>
          <p:cNvSpPr txBox="1"/>
          <p:nvPr/>
        </p:nvSpPr>
        <p:spPr>
          <a:xfrm>
            <a:off x="8366760" y="1463040"/>
            <a:ext cx="3337560" cy="4572000"/>
          </a:xfrm>
          <a:prstGeom prst="rect">
            <a:avLst/>
          </a:prstGeom>
          <a:noFill/>
          <a:ln/>
        </p:spPr>
        <p:txBody>
          <a:bodyPr wrap="square" lIns="0" tIns="0" rIns="0" bIns="0" rtlCol="0" anchor="ctr"/>
          <a:lstStyle/>
          <a:p>
            <a:pPr indent="0" marL="0">
              <a:buNone/>
            </a:pPr>
            <a:r>
              <a:rPr lang="en-US" sz="1400" dirty="0">
                <a:solidFill>
                  <a:srgbClr val="0B0B0B"/>
                </a:solidFill>
                <a:latin typeface="Cambria" pitchFamily="34" charset="0"/>
                <a:ea typeface="Cambria" pitchFamily="34" charset="-122"/>
                <a:cs typeface="Cambria" pitchFamily="34" charset="-120"/>
              </a:rPr>
              <a:t>MPG_norm = MPG × (wt/wt₂₀₂₄)^0.304 × (HP/HP₂₀₂₄)^0.483
</a:t>
            </a:r>
            <a:pPr indent="0" marL="0">
              <a:buNone/>
            </a:pPr>
            <a:r>
              <a:rPr lang="en-US" sz="1400" dirty="0">
                <a:solidFill>
                  <a:srgbClr val="0B0B0B"/>
                </a:solidFill>
                <a:latin typeface="Calibri" pitchFamily="34" charset="0"/>
                <a:ea typeface="Calibri" pitchFamily="34" charset="-122"/>
                <a:cs typeface="Calibri" pitchFamily="34" charset="-120"/>
              </a:rPr>
              <a:t>Every year's fleet re-expressed at 2024's weight and power, using our own coefficients — combustion only (BEVs backed out).
</a:t>
            </a:r>
            <a:pPr indent="0" marL="0">
              <a:buNone/>
            </a:pPr>
            <a:r>
              <a:rPr lang="en-US" sz="1400" b="1" dirty="0">
                <a:solidFill>
                  <a:srgbClr val="2A78D6"/>
                </a:solidFill>
                <a:latin typeface="Calibri" pitchFamily="34" charset="0"/>
                <a:ea typeface="Calibri" pitchFamily="34" charset="-122"/>
                <a:cs typeface="Calibri" pitchFamily="34" charset="-120"/>
              </a:rPr>
              <a:t>+1.86%/yr for fifty years, R² = 0.984. </a:t>
            </a:r>
            <a:pPr indent="0" marL="0">
              <a:buNone/>
            </a:pPr>
            <a:r>
              <a:rPr lang="en-US" sz="1400" dirty="0">
                <a:solidFill>
                  <a:srgbClr val="0B0B0B"/>
                </a:solidFill>
                <a:latin typeface="Calibri" pitchFamily="34" charset="0"/>
                <a:ea typeface="Calibri" pitchFamily="34" charset="-122"/>
                <a:cs typeface="Calibri" pitchFamily="34" charset="-120"/>
              </a:rPr>
              <a:t>The trough vanishes: technology never paused; its gains were spent.</a:t>
            </a:r>
            <a:endParaRPr lang="en-US" sz="1400" dirty="0"/>
          </a:p>
        </p:txBody>
      </p:sp>
      <p:sp>
        <p:nvSpPr>
          <p:cNvPr id="5" name="Text 2"/>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Stage 31; hybrids remain; BEV share backed out harmonically via the Tesla proxy (fleet share &lt;= 7.2%). BEV-inclusive version in the projection slide.</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2900" b="1" dirty="0">
                <a:solidFill>
                  <a:srgbClr val="0B0B0B"/>
                </a:solidFill>
                <a:latin typeface="Calibri" pitchFamily="34" charset="0"/>
                <a:ea typeface="Calibri" pitchFamily="34" charset="-122"/>
                <a:cs typeface="Calibri" pitchFamily="34" charset="-120"/>
              </a:rPr>
              <a:t>The productivity law holds in every class of vehicle</a:t>
            </a:r>
            <a:endParaRPr lang="en-US" sz="2900" dirty="0"/>
          </a:p>
        </p:txBody>
      </p:sp>
      <p:pic>
        <p:nvPicPr>
          <p:cNvPr id="3" name="Image 0" descr="C:\Users\Samson\Desktop\Homework\OS3180\Final Project\charts\fig43_class_productivity.png">    </p:cNvPr>
          <p:cNvPicPr>
            <a:picLocks noChangeAspect="1"/>
          </p:cNvPicPr>
          <p:nvPr/>
        </p:nvPicPr>
        <p:blipFill>
          <a:blip r:embed="rId1"/>
          <a:stretch>
            <a:fillRect/>
          </a:stretch>
        </p:blipFill>
        <p:spPr>
          <a:xfrm>
            <a:off x="502920" y="1188720"/>
            <a:ext cx="7839635" cy="4846320"/>
          </a:xfrm>
          <a:prstGeom prst="rect">
            <a:avLst/>
          </a:prstGeom>
        </p:spPr>
      </p:pic>
      <p:sp>
        <p:nvSpPr>
          <p:cNvPr id="4" name="Text 1"/>
          <p:cNvSpPr txBox="1"/>
          <p:nvPr/>
        </p:nvSpPr>
        <p:spPr>
          <a:xfrm>
            <a:off x="8778240" y="1554480"/>
            <a:ext cx="2926080" cy="4572000"/>
          </a:xfrm>
          <a:prstGeom prst="rect">
            <a:avLst/>
          </a:prstGeom>
          <a:noFill/>
          <a:ln/>
        </p:spPr>
        <p:txBody>
          <a:bodyPr wrap="square" lIns="0" tIns="0" rIns="0" bIns="0" rtlCol="0" anchor="ctr"/>
          <a:lstStyle/>
          <a:p>
            <a:pPr indent="0" marL="0">
              <a:buNone/>
            </a:pPr>
            <a:r>
              <a:rPr lang="en-US" sz="1400" dirty="0">
                <a:solidFill>
                  <a:srgbClr val="0B0B0B"/>
                </a:solidFill>
                <a:latin typeface="Calibri" pitchFamily="34" charset="0"/>
                <a:ea typeface="Calibri" pitchFamily="34" charset="-122"/>
                <a:cs typeface="Calibri" pitchFamily="34" charset="-120"/>
              </a:rPr>
              <a:t>Sedans, SUVs, pickups, minivans — each normalized to its own 2024 design: </a:t>
            </a:r>
            <a:pPr indent="0" marL="0">
              <a:buNone/>
            </a:pPr>
            <a:r>
              <a:rPr lang="en-US" sz="1400" b="1" dirty="0">
                <a:solidFill>
                  <a:srgbClr val="2A78D6"/>
                </a:solidFill>
                <a:latin typeface="Calibri" pitchFamily="34" charset="0"/>
                <a:ea typeface="Calibri" pitchFamily="34" charset="-122"/>
                <a:cs typeface="Calibri" pitchFamily="34" charset="-120"/>
              </a:rPr>
              <a:t>2.0–2.6%/yr everywhere, R² 0.93–0.99.
</a:t>
            </a:r>
            <a:pPr indent="0" marL="0">
              <a:buNone/>
            </a:pPr>
            <a:r>
              <a:rPr lang="en-US" sz="1400" dirty="0">
                <a:solidFill>
                  <a:srgbClr val="0B0B0B"/>
                </a:solidFill>
                <a:latin typeface="Calibri" pitchFamily="34" charset="0"/>
                <a:ea typeface="Calibri" pitchFamily="34" charset="-122"/>
                <a:cs typeface="Calibri" pitchFamily="34" charset="-120"/>
              </a:rPr>
              <a:t>Classes differ in level (pickup physics), barely in rate. The one outlier — Car SUV's 2023 spike — is the Model Y entering the class at 36% share; it vanishes when BEVs are removed (backup).</a:t>
            </a:r>
            <a:endParaRPr lang="en-US" sz="1400" dirty="0"/>
          </a:p>
        </p:txBody>
      </p:sp>
      <p:sp>
        <p:nvSpPr>
          <p:cNvPr id="5" name="Text 2"/>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EPA Trends by vehicle type; no coupe class exists in Trends (two-doors fold into Sedan/Wagon). reports/30_class_productivity.md.</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2900" b="1" dirty="0">
                <a:solidFill>
                  <a:srgbClr val="0B0B0B"/>
                </a:solidFill>
                <a:latin typeface="Calibri" pitchFamily="34" charset="0"/>
                <a:ea typeface="Calibri" pitchFamily="34" charset="-122"/>
                <a:cs typeface="Calibri" pitchFamily="34" charset="-120"/>
              </a:rPr>
              <a:t>Why buyers care: MPG is a cash-flow forecast</a:t>
            </a:r>
            <a:endParaRPr lang="en-US" sz="2900" dirty="0"/>
          </a:p>
        </p:txBody>
      </p:sp>
      <p:pic>
        <p:nvPicPr>
          <p:cNvPr id="3" name="Image 0" descr="C:\Users\Samson\Desktop\Homework\OS3180\Final Project\charts\fig36_price_sensitivity.png">    </p:cNvPr>
          <p:cNvPicPr>
            <a:picLocks noChangeAspect="1"/>
          </p:cNvPicPr>
          <p:nvPr/>
        </p:nvPicPr>
        <p:blipFill>
          <a:blip r:embed="rId1"/>
          <a:stretch>
            <a:fillRect/>
          </a:stretch>
        </p:blipFill>
        <p:spPr>
          <a:xfrm>
            <a:off x="502920" y="1325880"/>
            <a:ext cx="7184571" cy="3657600"/>
          </a:xfrm>
          <a:prstGeom prst="rect">
            <a:avLst/>
          </a:prstGeom>
        </p:spPr>
      </p:pic>
      <p:sp>
        <p:nvSpPr>
          <p:cNvPr id="4" name="Text 1"/>
          <p:cNvSpPr txBox="1"/>
          <p:nvPr/>
        </p:nvSpPr>
        <p:spPr>
          <a:xfrm>
            <a:off x="8092440" y="1371600"/>
            <a:ext cx="3611880" cy="868680"/>
          </a:xfrm>
          <a:prstGeom prst="rect">
            <a:avLst/>
          </a:prstGeom>
          <a:noFill/>
          <a:ln/>
        </p:spPr>
        <p:txBody>
          <a:bodyPr wrap="square" lIns="0" tIns="0" rIns="0" bIns="0" rtlCol="0" anchor="ctr"/>
          <a:lstStyle/>
          <a:p>
            <a:pPr indent="0" marL="0">
              <a:buNone/>
            </a:pPr>
            <a:r>
              <a:rPr lang="en-US" sz="4400" b="1" dirty="0">
                <a:solidFill>
                  <a:srgbClr val="2A78D6"/>
                </a:solidFill>
                <a:latin typeface="Calibri" pitchFamily="34" charset="0"/>
                <a:ea typeface="Calibri" pitchFamily="34" charset="-122"/>
                <a:cs typeface="Calibri" pitchFamily="34" charset="-120"/>
              </a:rPr>
              <a:t>4.5 years</a:t>
            </a:r>
            <a:endParaRPr lang="en-US" sz="4400" dirty="0"/>
          </a:p>
        </p:txBody>
      </p:sp>
      <p:sp>
        <p:nvSpPr>
          <p:cNvPr id="5" name="Text 2"/>
          <p:cNvSpPr txBox="1"/>
          <p:nvPr/>
        </p:nvSpPr>
        <p:spPr>
          <a:xfrm>
            <a:off x="8092440" y="2240280"/>
            <a:ext cx="3611880" cy="685800"/>
          </a:xfrm>
          <a:prstGeom prst="rect">
            <a:avLst/>
          </a:prstGeom>
          <a:noFill/>
          <a:ln/>
        </p:spPr>
        <p:txBody>
          <a:bodyPr wrap="square" lIns="0" tIns="0" rIns="0" bIns="0" rtlCol="0" anchor="ctr"/>
          <a:lstStyle/>
          <a:p>
            <a:pPr indent="0" marL="0">
              <a:buNone/>
            </a:pPr>
            <a:r>
              <a:rPr lang="en-US" sz="1300" dirty="0">
                <a:solidFill>
                  <a:srgbClr val="0B0B0B"/>
                </a:solidFill>
                <a:latin typeface="Calibri" pitchFamily="34" charset="0"/>
                <a:ea typeface="Calibri" pitchFamily="34" charset="-122"/>
                <a:cs typeface="Calibri" pitchFamily="34" charset="-120"/>
              </a:rPr>
              <a:t>energy savings alone repay the $6,477 EV purchase premium ($1,456 saved per year)</a:t>
            </a:r>
            <a:endParaRPr lang="en-US" sz="1300" dirty="0"/>
          </a:p>
        </p:txBody>
      </p:sp>
      <p:sp>
        <p:nvSpPr>
          <p:cNvPr id="6" name="Text 3"/>
          <p:cNvSpPr txBox="1"/>
          <p:nvPr/>
        </p:nvSpPr>
        <p:spPr>
          <a:xfrm>
            <a:off x="8092440" y="3566160"/>
            <a:ext cx="3611880" cy="2377440"/>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And the volatility story: </a:t>
            </a:r>
            <a:pPr indent="0" marL="0">
              <a:buNone/>
            </a:pPr>
            <a:r>
              <a:rPr lang="en-US" sz="1500" dirty="0">
                <a:solidFill>
                  <a:srgbClr val="0B0B0B"/>
                </a:solidFill>
                <a:latin typeface="Calibri" pitchFamily="34" charset="0"/>
                <a:ea typeface="Calibri" pitchFamily="34" charset="-122"/>
                <a:cs typeface="Calibri" pitchFamily="34" charset="-120"/>
              </a:rPr>
              <a:t>across every price observed 2011–2026, the gasoline driver's annual bill swings $1,394; the BEV driver's swings $370. The efficient vehicle is also the price-shock insurance.</a:t>
            </a:r>
            <a:endParaRPr lang="en-US" sz="1500" dirty="0"/>
          </a:p>
        </p:txBody>
      </p:sp>
      <p:sp>
        <p:nvSpPr>
          <p:cNvPr id="7" name="Text 4"/>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fig36 (price-shock exposure); premium from KBB July 2026 ATPs (fig37); savings from fig33 cost-per-mile at 2024 prices.</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2900" b="1" dirty="0">
                <a:solidFill>
                  <a:srgbClr val="0B0B0B"/>
                </a:solidFill>
                <a:latin typeface="Calibri" pitchFamily="34" charset="0"/>
                <a:ea typeface="Calibri" pitchFamily="34" charset="-122"/>
                <a:cs typeface="Calibri" pitchFamily="34" charset="-120"/>
              </a:rPr>
              <a:t>EVs: offered faster than bought, and credit-sensitive</a:t>
            </a:r>
            <a:endParaRPr lang="en-US" sz="2900" dirty="0"/>
          </a:p>
        </p:txBody>
      </p:sp>
      <p:pic>
        <p:nvPicPr>
          <p:cNvPr id="3" name="Image 0" descr="C:\Users\Samson\Desktop\Homework\OS3180\Final Project\charts\fig3_ev_gap.png">    </p:cNvPr>
          <p:cNvPicPr>
            <a:picLocks noChangeAspect="1"/>
          </p:cNvPicPr>
          <p:nvPr/>
        </p:nvPicPr>
        <p:blipFill>
          <a:blip r:embed="rId1"/>
          <a:stretch>
            <a:fillRect/>
          </a:stretch>
        </p:blipFill>
        <p:spPr>
          <a:xfrm>
            <a:off x="502920" y="1188720"/>
            <a:ext cx="7462684" cy="4206240"/>
          </a:xfrm>
          <a:prstGeom prst="rect">
            <a:avLst/>
          </a:prstGeom>
        </p:spPr>
      </p:pic>
      <p:sp>
        <p:nvSpPr>
          <p:cNvPr id="4" name="Text 1"/>
          <p:cNvSpPr txBox="1"/>
          <p:nvPr/>
        </p:nvSpPr>
        <p:spPr>
          <a:xfrm>
            <a:off x="7680960" y="1371600"/>
            <a:ext cx="4023360" cy="4754880"/>
          </a:xfrm>
          <a:prstGeom prst="rect">
            <a:avLst/>
          </a:prstGeom>
          <a:noFill/>
          <a:ln/>
        </p:spPr>
        <p:txBody>
          <a:bodyPr wrap="square" lIns="0" tIns="0" rIns="0" bIns="0" rtlCol="0" anchor="ctr"/>
          <a:lstStyle/>
          <a:p>
            <a:pPr indent="0" marL="0">
              <a:buNone/>
            </a:pPr>
            <a:r>
              <a:rPr lang="en-US" sz="1350" b="1" dirty="0">
                <a:solidFill>
                  <a:srgbClr val="2A78D6"/>
                </a:solidFill>
                <a:latin typeface="Calibri" pitchFamily="34" charset="0"/>
                <a:ea typeface="Calibri" pitchFamily="34" charset="-122"/>
                <a:cs typeface="Calibri" pitchFamily="34" charset="-120"/>
              </a:rPr>
              <a:t>2010:  </a:t>
            </a:r>
            <a:pPr indent="0" marL="0">
              <a:buNone/>
            </a:pPr>
            <a:r>
              <a:rPr lang="en-US" sz="1350" dirty="0">
                <a:solidFill>
                  <a:srgbClr val="0B0B0B"/>
                </a:solidFill>
                <a:latin typeface="Calibri" pitchFamily="34" charset="0"/>
                <a:ea typeface="Calibri" pitchFamily="34" charset="-122"/>
                <a:cs typeface="Calibri" pitchFamily="34" charset="-120"/>
              </a:rPr>
              <a:t>first mass-market EVs delivered (Leaf, Volt)
</a:t>
            </a:r>
            <a:pPr indent="0" marL="0">
              <a:buNone/>
            </a:pPr>
            <a:r>
              <a:rPr lang="en-US" sz="1350" b="1" dirty="0">
                <a:solidFill>
                  <a:srgbClr val="2A78D6"/>
                </a:solidFill>
                <a:latin typeface="Calibri" pitchFamily="34" charset="0"/>
                <a:ea typeface="Calibri" pitchFamily="34" charset="-122"/>
                <a:cs typeface="Calibri" pitchFamily="34" charset="-120"/>
              </a:rPr>
              <a:t>2022:  </a:t>
            </a:r>
            <a:pPr indent="0" marL="0">
              <a:buNone/>
            </a:pPr>
            <a:r>
              <a:rPr lang="en-US" sz="1350" dirty="0">
                <a:solidFill>
                  <a:srgbClr val="0B0B0B"/>
                </a:solidFill>
                <a:latin typeface="Calibri" pitchFamily="34" charset="0"/>
                <a:ea typeface="Calibri" pitchFamily="34" charset="-122"/>
                <a:cs typeface="Calibri" pitchFamily="34" charset="-120"/>
              </a:rPr>
              <a:t>Inflation Reduction Act revamps the $7,500 credit
</a:t>
            </a:r>
            <a:pPr indent="0" marL="0">
              <a:buNone/>
            </a:pPr>
            <a:r>
              <a:rPr lang="en-US" sz="1350" b="1" dirty="0">
                <a:solidFill>
                  <a:srgbClr val="2A78D6"/>
                </a:solidFill>
                <a:latin typeface="Calibri" pitchFamily="34" charset="0"/>
                <a:ea typeface="Calibri" pitchFamily="34" charset="-122"/>
                <a:cs typeface="Calibri" pitchFamily="34" charset="-120"/>
              </a:rPr>
              <a:t>2023:  </a:t>
            </a:r>
            <a:pPr indent="0" marL="0">
              <a:buNone/>
            </a:pPr>
            <a:r>
              <a:rPr lang="en-US" sz="1350" dirty="0">
                <a:solidFill>
                  <a:srgbClr val="0B0B0B"/>
                </a:solidFill>
                <a:latin typeface="Calibri" pitchFamily="34" charset="0"/>
                <a:ea typeface="Calibri" pitchFamily="34" charset="-122"/>
                <a:cs typeface="Calibri" pitchFamily="34" charset="-120"/>
              </a:rPr>
              <a:t>credit-driven surge — BEV share of the Car SUV class hits 35.7%
</a:t>
            </a:r>
            <a:pPr indent="0" marL="0">
              <a:buNone/>
            </a:pPr>
            <a:r>
              <a:rPr lang="en-US" sz="1350" b="1" dirty="0">
                <a:solidFill>
                  <a:srgbClr val="2A78D6"/>
                </a:solidFill>
                <a:latin typeface="Calibri" pitchFamily="34" charset="0"/>
                <a:ea typeface="Calibri" pitchFamily="34" charset="-122"/>
                <a:cs typeface="Calibri" pitchFamily="34" charset="-120"/>
              </a:rPr>
              <a:t>2024:  </a:t>
            </a:r>
            <a:pPr indent="0" marL="0">
              <a:buNone/>
            </a:pPr>
            <a:r>
              <a:rPr lang="en-US" sz="1350" dirty="0">
                <a:solidFill>
                  <a:srgbClr val="0B0B0B"/>
                </a:solidFill>
                <a:latin typeface="Calibri" pitchFamily="34" charset="0"/>
                <a:ea typeface="Calibri" pitchFamily="34" charset="-122"/>
                <a:cs typeface="Calibri" pitchFamily="34" charset="-120"/>
              </a:rPr>
              <a:t>the hangover — sedan-class BEV share halves (14.6% → 7.1%)
</a:t>
            </a:r>
            <a:pPr indent="0" marL="0">
              <a:buNone/>
            </a:pPr>
            <a:r>
              <a:rPr lang="en-US" sz="1350" b="1" dirty="0">
                <a:solidFill>
                  <a:srgbClr val="0B0B0B"/>
                </a:solidFill>
                <a:latin typeface="Calibri" pitchFamily="34" charset="0"/>
                <a:ea typeface="Calibri" pitchFamily="34" charset="-122"/>
                <a:cs typeface="Calibri" pitchFamily="34" charset="-120"/>
              </a:rPr>
              <a:t>The gap persists: 21% of the 2024 catalog is electric; 7.2% of production is. </a:t>
            </a:r>
            <a:pPr indent="0" marL="0">
              <a:buNone/>
            </a:pPr>
            <a:r>
              <a:rPr lang="en-US" sz="1350" dirty="0">
                <a:solidFill>
                  <a:srgbClr val="0B0B0B"/>
                </a:solidFill>
                <a:latin typeface="Calibri" pitchFamily="34" charset="0"/>
                <a:ea typeface="Calibri" pitchFamily="34" charset="-122"/>
                <a:cs typeface="Calibri" pitchFamily="34" charset="-120"/>
              </a:rPr>
              <a:t>Buyer interest tracks incentives and energy-cost advantage — which is narrowing (backup).</a:t>
            </a:r>
            <a:endParaRPr lang="en-US" sz="1350" dirty="0"/>
          </a:p>
        </p:txBody>
      </p:sp>
      <p:sp>
        <p:nvSpPr>
          <p:cNvPr id="5" name="Text 2"/>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fig3 (offered vs bought); events from external/events_timeline.csv (dated, cited); mix shares from EPA Trends powertrain columns.</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2900" b="1" dirty="0">
                <a:solidFill>
                  <a:srgbClr val="0B0B0B"/>
                </a:solidFill>
                <a:latin typeface="Calibri" pitchFamily="34" charset="0"/>
                <a:ea typeface="Calibri" pitchFamily="34" charset="-122"/>
                <a:cs typeface="Calibri" pitchFamily="34" charset="-120"/>
              </a:rPr>
              <a:t>What arrives next follows the same S-curve, at different speeds</a:t>
            </a:r>
            <a:endParaRPr lang="en-US" sz="2900" dirty="0"/>
          </a:p>
        </p:txBody>
      </p:sp>
      <p:pic>
        <p:nvPicPr>
          <p:cNvPr id="3" name="Image 0" descr="C:\Users\Samson\Desktop\Homework\OS3180\Final Project\charts\fig18_diffusion_fits.png">    </p:cNvPr>
          <p:cNvPicPr>
            <a:picLocks noChangeAspect="1"/>
          </p:cNvPicPr>
          <p:nvPr/>
        </p:nvPicPr>
        <p:blipFill>
          <a:blip r:embed="rId1"/>
          <a:stretch>
            <a:fillRect/>
          </a:stretch>
        </p:blipFill>
        <p:spPr>
          <a:xfrm>
            <a:off x="502920" y="1188720"/>
            <a:ext cx="8307977" cy="4846320"/>
          </a:xfrm>
          <a:prstGeom prst="rect">
            <a:avLst/>
          </a:prstGeom>
        </p:spPr>
      </p:pic>
      <p:sp>
        <p:nvSpPr>
          <p:cNvPr id="4" name="Text 1"/>
          <p:cNvSpPr txBox="1"/>
          <p:nvPr/>
        </p:nvSpPr>
        <p:spPr>
          <a:xfrm>
            <a:off x="8778240" y="1554480"/>
            <a:ext cx="2926080" cy="4572000"/>
          </a:xfrm>
          <a:prstGeom prst="rect">
            <a:avLst/>
          </a:prstGeom>
          <a:noFill/>
          <a:ln/>
        </p:spPr>
        <p:txBody>
          <a:bodyPr wrap="square" lIns="0" tIns="0" rIns="0" bIns="0" rtlCol="0" anchor="ctr"/>
          <a:lstStyle/>
          <a:p>
            <a:pPr indent="0" marL="0">
              <a:buNone/>
            </a:pPr>
            <a:r>
              <a:rPr lang="en-US" sz="1400" dirty="0">
                <a:solidFill>
                  <a:srgbClr val="0B0B0B"/>
                </a:solidFill>
                <a:latin typeface="Calibri" pitchFamily="34" charset="0"/>
                <a:ea typeface="Calibri" pitchFamily="34" charset="-122"/>
                <a:cs typeface="Calibri" pitchFamily="34" charset="-120"/>
              </a:rPr>
              <a:t>Every efficiency technology diffuses on a logistic curve; only the rate constant differs. </a:t>
            </a:r>
            <a:pPr indent="0" marL="0">
              <a:buNone/>
            </a:pPr>
            <a:r>
              <a:rPr lang="en-US" sz="1400" b="1" dirty="0">
                <a:solidFill>
                  <a:srgbClr val="2A78D6"/>
                </a:solidFill>
                <a:latin typeface="Calibri" pitchFamily="34" charset="0"/>
                <a:ea typeface="Calibri" pitchFamily="34" charset="-122"/>
                <a:cs typeface="Calibri" pitchFamily="34" charset="-120"/>
              </a:rPr>
              <a:t>GDI took over 2.1× faster than turbo.
</a:t>
            </a:r>
            <a:pPr indent="0" marL="0">
              <a:buNone/>
            </a:pPr>
            <a:r>
              <a:rPr lang="en-US" sz="1400" dirty="0">
                <a:solidFill>
                  <a:srgbClr val="0B0B0B"/>
                </a:solidFill>
                <a:latin typeface="Calibri" pitchFamily="34" charset="0"/>
                <a:ea typeface="Calibri" pitchFamily="34" charset="-122"/>
                <a:cs typeface="Calibri" pitchFamily="34" charset="-120"/>
              </a:rPr>
              <a:t>The honest open question is BEV: the data cannot yet distinguish an early S-curve from a low plateau — its fitted ceiling carries the widest confidence interval on the page.</a:t>
            </a:r>
            <a:endParaRPr lang="en-US" sz="1400" dirty="0"/>
          </a:p>
        </p:txBody>
      </p:sp>
      <p:sp>
        <p:nvSpPr>
          <p:cNvPr id="5" name="Text 2"/>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Logistic fits, ceiling estimated not assumed; bootstrap CIs in reports/10_statistics.md. Dashed = extrapolation.</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2900" b="1" dirty="0">
                <a:solidFill>
                  <a:srgbClr val="0B0B0B"/>
                </a:solidFill>
                <a:latin typeface="Calibri" pitchFamily="34" charset="0"/>
                <a:ea typeface="Calibri" pitchFamily="34" charset="-122"/>
                <a:cs typeface="Calibri" pitchFamily="34" charset="-120"/>
              </a:rPr>
              <a:t>At trend: 40–44 MPG-equivalent by 2045, and the sales mix decides</a:t>
            </a:r>
            <a:endParaRPr lang="en-US" sz="2900" dirty="0"/>
          </a:p>
        </p:txBody>
      </p:sp>
      <p:pic>
        <p:nvPicPr>
          <p:cNvPr id="3" name="Image 0" descr="C:\Users\Samson\Desktop\Homework\OS3180\Final Project\charts\fig42_productivity_projection.png">    </p:cNvPr>
          <p:cNvPicPr>
            <a:picLocks noChangeAspect="1"/>
          </p:cNvPicPr>
          <p:nvPr/>
        </p:nvPicPr>
        <p:blipFill>
          <a:blip r:embed="rId1"/>
          <a:stretch>
            <a:fillRect/>
          </a:stretch>
        </p:blipFill>
        <p:spPr>
          <a:xfrm>
            <a:off x="502920" y="1188720"/>
            <a:ext cx="7700963" cy="4480560"/>
          </a:xfrm>
          <a:prstGeom prst="rect">
            <a:avLst/>
          </a:prstGeom>
        </p:spPr>
      </p:pic>
      <p:sp>
        <p:nvSpPr>
          <p:cNvPr id="4" name="Text 1"/>
          <p:cNvSpPr txBox="1"/>
          <p:nvPr/>
        </p:nvSpPr>
        <p:spPr>
          <a:xfrm>
            <a:off x="8366760" y="1463040"/>
            <a:ext cx="3337560" cy="4754880"/>
          </a:xfrm>
          <a:prstGeom prst="rect">
            <a:avLst/>
          </a:prstGeom>
          <a:noFill/>
          <a:ln/>
        </p:spPr>
        <p:txBody>
          <a:bodyPr wrap="square" lIns="0" tIns="0" rIns="0" bIns="0" rtlCol="0" anchor="ctr"/>
          <a:lstStyle/>
          <a:p>
            <a:pPr indent="0" marL="0">
              <a:buNone/>
            </a:pPr>
            <a:r>
              <a:rPr lang="en-US" sz="1400" b="1" dirty="0">
                <a:solidFill>
                  <a:srgbClr val="0B0B0B"/>
                </a:solidFill>
                <a:latin typeface="Calibri" pitchFamily="34" charset="0"/>
                <a:ea typeface="Calibri" pitchFamily="34" charset="-122"/>
                <a:cs typeface="Calibri" pitchFamily="34" charset="-120"/>
              </a:rPr>
              <a:t>The full-fleet projection (BEVs in): </a:t>
            </a:r>
            <a:pPr indent="0" marL="0">
              <a:buNone/>
            </a:pPr>
            <a:r>
              <a:rPr lang="en-US" sz="1400" dirty="0">
                <a:solidFill>
                  <a:srgbClr val="0B0B0B"/>
                </a:solidFill>
                <a:latin typeface="Calibri" pitchFamily="34" charset="0"/>
                <a:ea typeface="Calibri" pitchFamily="34" charset="-122"/>
                <a:cs typeface="Calibri" pitchFamily="34" charset="-120"/>
              </a:rPr>
              <a:t>44 by 2045 at the recent rate, 40 at the 50-year rate.
</a:t>
            </a:r>
            <a:pPr indent="0" marL="0">
              <a:buNone/>
            </a:pPr>
            <a:r>
              <a:rPr lang="en-US" sz="1400" b="1" dirty="0">
                <a:solidFill>
                  <a:srgbClr val="1BAF7A"/>
                </a:solidFill>
                <a:latin typeface="Calibri" pitchFamily="34" charset="0"/>
                <a:ea typeface="Calibri" pitchFamily="34" charset="-122"/>
                <a:cs typeface="Calibri" pitchFamily="34" charset="-120"/>
              </a:rPr>
              <a:t>Combustion alone delivers 39 </a:t>
            </a:r>
            <a:pPr indent="0" marL="0">
              <a:buNone/>
            </a:pPr>
            <a:r>
              <a:rPr lang="en-US" sz="1400" dirty="0">
                <a:solidFill>
                  <a:srgbClr val="0B0B0B"/>
                </a:solidFill>
                <a:latin typeface="Calibri" pitchFamily="34" charset="0"/>
                <a:ea typeface="Calibri" pitchFamily="34" charset="-122"/>
                <a:cs typeface="Calibri" pitchFamily="34" charset="-120"/>
              </a:rPr>
              <a:t>(previous slide's series projected) — so ~5 MPG-equivalent of the difference is electrification's contribution, which the sales mix, not the lab, will decide.
</a:t>
            </a:r>
            <a:pPr indent="0" marL="0">
              <a:buNone/>
            </a:pPr>
            <a:r>
              <a:rPr lang="en-US" sz="1400" i="1" dirty="0">
                <a:solidFill>
                  <a:srgbClr val="6E6C66"/>
                </a:solidFill>
                <a:latin typeface="Calibri" pitchFamily="34" charset="0"/>
                <a:ea typeface="Calibri" pitchFamily="34" charset="-122"/>
                <a:cs typeface="Calibri" pitchFamily="34" charset="-120"/>
              </a:rPr>
              <a:t>Design → MPG → cost/mile → what consumers buy → fleet fuel economy: with the equation in hand, each link is quantified.</a:t>
            </a:r>
            <a:endParaRPr lang="en-US" sz="1400" dirty="0"/>
          </a:p>
        </p:txBody>
      </p:sp>
      <p:sp>
        <p:nvSpPr>
          <p:cNvPr id="5" name="Text 2"/>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Stage 29/31; slope-CI band shown; scenario uncertainty dominates and the two rates bracket, not bound, the future.</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2900" b="1" dirty="0">
                <a:solidFill>
                  <a:srgbClr val="0B0B0B"/>
                </a:solidFill>
                <a:latin typeface="Calibri" pitchFamily="34" charset="0"/>
                <a:ea typeface="Calibri" pitchFamily="34" charset="-122"/>
                <a:cs typeface="Calibri" pitchFamily="34" charset="-120"/>
              </a:rPr>
              <a:t>Limitations, stated plainly</a:t>
            </a:r>
            <a:endParaRPr lang="en-US" sz="2900" dirty="0"/>
          </a:p>
        </p:txBody>
      </p:sp>
      <p:sp>
        <p:nvSpPr>
          <p:cNvPr id="3" name="Text 1"/>
          <p:cNvSpPr txBox="1"/>
          <p:nvPr/>
        </p:nvSpPr>
        <p:spPr>
          <a:xfrm>
            <a:off x="502920" y="1325880"/>
            <a:ext cx="6400800" cy="1051560"/>
          </a:xfrm>
          <a:prstGeom prst="rect">
            <a:avLst/>
          </a:prstGeom>
          <a:noFill/>
          <a:ln/>
        </p:spPr>
        <p:txBody>
          <a:bodyPr wrap="square" lIns="0" tIns="0" rIns="0" bIns="0" rtlCol="0" anchor="ctr"/>
          <a:lstStyle/>
          <a:p>
            <a:pPr indent="0" marL="0">
              <a:buNone/>
            </a:pPr>
            <a:r>
              <a:rPr lang="en-US" sz="1450" b="1" dirty="0">
                <a:solidFill>
                  <a:srgbClr val="2A78D6"/>
                </a:solidFill>
                <a:latin typeface="Calibri" pitchFamily="34" charset="0"/>
                <a:ea typeface="Calibri" pitchFamily="34" charset="-122"/>
                <a:cs typeface="Calibri" pitchFamily="34" charset="-120"/>
              </a:rPr>
              <a:t>Cross-sectional elasticities.  </a:t>
            </a:r>
            <a:pPr indent="0" marL="0">
              <a:buNone/>
            </a:pPr>
            <a:r>
              <a:rPr lang="en-US" sz="1450" dirty="0">
                <a:solidFill>
                  <a:srgbClr val="0B0B0B"/>
                </a:solidFill>
                <a:latin typeface="Calibri" pitchFamily="34" charset="0"/>
                <a:ea typeface="Calibri" pitchFamily="34" charset="-122"/>
                <a:cs typeface="Calibri" pitchFamily="34" charset="-120"/>
              </a:rPr>
              <a:t>Estimated on the 2024 fleet, applied across five decades for normalization: a stability assumption, partially supported by era refits (R² 0.71-0.78).</a:t>
            </a:r>
            <a:endParaRPr lang="en-US" sz="1450" dirty="0"/>
          </a:p>
        </p:txBody>
      </p:sp>
      <p:sp>
        <p:nvSpPr>
          <p:cNvPr id="4" name="Text 2"/>
          <p:cNvSpPr txBox="1"/>
          <p:nvPr/>
        </p:nvSpPr>
        <p:spPr>
          <a:xfrm>
            <a:off x="502920" y="2423160"/>
            <a:ext cx="6400800" cy="1051560"/>
          </a:xfrm>
          <a:prstGeom prst="rect">
            <a:avLst/>
          </a:prstGeom>
          <a:noFill/>
          <a:ln/>
        </p:spPr>
        <p:txBody>
          <a:bodyPr wrap="square" lIns="0" tIns="0" rIns="0" bIns="0" rtlCol="0" anchor="ctr"/>
          <a:lstStyle/>
          <a:p>
            <a:pPr indent="0" marL="0">
              <a:buNone/>
            </a:pPr>
            <a:r>
              <a:rPr lang="en-US" sz="1450" b="1" dirty="0">
                <a:solidFill>
                  <a:srgbClr val="2A78D6"/>
                </a:solidFill>
                <a:latin typeface="Calibri" pitchFamily="34" charset="0"/>
                <a:ea typeface="Calibri" pitchFamily="34" charset="-122"/>
                <a:cs typeface="Calibri" pitchFamily="34" charset="-120"/>
              </a:rPr>
              <a:t>Lab MPG, not window sticker.  </a:t>
            </a:r>
            <a:pPr indent="0" marL="0">
              <a:buNone/>
            </a:pPr>
            <a:r>
              <a:rPr lang="en-US" sz="1450" dirty="0">
                <a:solidFill>
                  <a:srgbClr val="0B0B0B"/>
                </a:solidFill>
                <a:latin typeface="Calibri" pitchFamily="34" charset="0"/>
                <a:ea typeface="Calibri" pitchFamily="34" charset="-122"/>
                <a:cs typeface="Calibri" pitchFamily="34" charset="-120"/>
              </a:rPr>
              <a:t>The DV is the unadjusted 2-cycle test — a consistent basis, but it runs ~31% above real-world driving by 2024 (chart at right).</a:t>
            </a:r>
            <a:endParaRPr lang="en-US" sz="1450" dirty="0"/>
          </a:p>
        </p:txBody>
      </p:sp>
      <p:sp>
        <p:nvSpPr>
          <p:cNvPr id="5" name="Text 3"/>
          <p:cNvSpPr txBox="1"/>
          <p:nvPr/>
        </p:nvSpPr>
        <p:spPr>
          <a:xfrm>
            <a:off x="502920" y="3520440"/>
            <a:ext cx="6400800" cy="1051560"/>
          </a:xfrm>
          <a:prstGeom prst="rect">
            <a:avLst/>
          </a:prstGeom>
          <a:noFill/>
          <a:ln/>
        </p:spPr>
        <p:txBody>
          <a:bodyPr wrap="square" lIns="0" tIns="0" rIns="0" bIns="0" rtlCol="0" anchor="ctr"/>
          <a:lstStyle/>
          <a:p>
            <a:pPr indent="0" marL="0">
              <a:buNone/>
            </a:pPr>
            <a:r>
              <a:rPr lang="en-US" sz="1450" b="1" dirty="0">
                <a:solidFill>
                  <a:srgbClr val="2A78D6"/>
                </a:solidFill>
                <a:latin typeface="Calibri" pitchFamily="34" charset="0"/>
                <a:ea typeface="Calibri" pitchFamily="34" charset="-122"/>
                <a:cs typeface="Calibri" pitchFamily="34" charset="-120"/>
              </a:rPr>
              <a:t>Projections are trend extrapolations.  </a:t>
            </a:r>
            <a:pPr indent="0" marL="0">
              <a:buNone/>
            </a:pPr>
            <a:r>
              <a:rPr lang="en-US" sz="1450" dirty="0">
                <a:solidFill>
                  <a:srgbClr val="0B0B0B"/>
                </a:solidFill>
                <a:latin typeface="Calibri" pitchFamily="34" charset="0"/>
                <a:ea typeface="Calibri" pitchFamily="34" charset="-122"/>
                <a:cs typeface="Calibri" pitchFamily="34" charset="-120"/>
              </a:rPr>
              <a:t>Log-linear, no physics ceiling, no policy scenario; the CI bands carry fit uncertainty only, and scenario uncertainty dominates.</a:t>
            </a:r>
            <a:endParaRPr lang="en-US" sz="1450" dirty="0"/>
          </a:p>
        </p:txBody>
      </p:sp>
      <p:sp>
        <p:nvSpPr>
          <p:cNvPr id="6" name="Text 4"/>
          <p:cNvSpPr txBox="1"/>
          <p:nvPr/>
        </p:nvSpPr>
        <p:spPr>
          <a:xfrm>
            <a:off x="502920" y="4617720"/>
            <a:ext cx="6400800" cy="1051560"/>
          </a:xfrm>
          <a:prstGeom prst="rect">
            <a:avLst/>
          </a:prstGeom>
          <a:noFill/>
          <a:ln/>
        </p:spPr>
        <p:txBody>
          <a:bodyPr wrap="square" lIns="0" tIns="0" rIns="0" bIns="0" rtlCol="0" anchor="ctr"/>
          <a:lstStyle/>
          <a:p>
            <a:pPr indent="0" marL="0">
              <a:buNone/>
            </a:pPr>
            <a:r>
              <a:rPr lang="en-US" sz="1450" b="1" dirty="0">
                <a:solidFill>
                  <a:srgbClr val="2A78D6"/>
                </a:solidFill>
                <a:latin typeface="Calibri" pitchFamily="34" charset="0"/>
                <a:ea typeface="Calibri" pitchFamily="34" charset="-122"/>
                <a:cs typeface="Calibri" pitchFamily="34" charset="-120"/>
              </a:rPr>
              <a:t>EVs modeled separately; Tesla as BEV proxy.  </a:t>
            </a:r>
            <a:pPr indent="0" marL="0">
              <a:buNone/>
            </a:pPr>
            <a:r>
              <a:rPr lang="en-US" sz="1450" dirty="0">
                <a:solidFill>
                  <a:srgbClr val="0B0B0B"/>
                </a:solidFill>
                <a:latin typeface="Calibri" pitchFamily="34" charset="0"/>
                <a:ea typeface="Calibri" pitchFamily="34" charset="-122"/>
                <a:cs typeface="Calibri" pitchFamily="34" charset="-120"/>
              </a:rPr>
              <a:t>MPGe is a different quantity (BEV companion model, R² 0.708); the ex-BEV series leans on the Tesla proxy, first-order only inside 2023's Car SUV class.</a:t>
            </a:r>
            <a:endParaRPr lang="en-US" sz="1450" dirty="0"/>
          </a:p>
        </p:txBody>
      </p:sp>
      <p:pic>
        <p:nvPicPr>
          <p:cNvPr id="7" name="Image 0" descr="C:\Users\Samson\Desktop\Homework\OS3180\Final Project\charts\fig7_lab_vs_road.png">    </p:cNvPr>
          <p:cNvPicPr>
            <a:picLocks noChangeAspect="1"/>
          </p:cNvPicPr>
          <p:nvPr/>
        </p:nvPicPr>
        <p:blipFill>
          <a:blip r:embed="rId1"/>
          <a:stretch>
            <a:fillRect/>
          </a:stretch>
        </p:blipFill>
        <p:spPr>
          <a:xfrm>
            <a:off x="7223760" y="1463040"/>
            <a:ext cx="4434840" cy="2499637"/>
          </a:xfrm>
          <a:prstGeom prst="rect">
            <a:avLst/>
          </a:prstGeom>
        </p:spPr>
      </p:pic>
      <p:sp>
        <p:nvSpPr>
          <p:cNvPr id="8" name="Text 5"/>
          <p:cNvSpPr txBox="1"/>
          <p:nvPr/>
        </p:nvSpPr>
        <p:spPr>
          <a:xfrm>
            <a:off x="7223760" y="4206240"/>
            <a:ext cx="4480560" cy="365760"/>
          </a:xfrm>
          <a:prstGeom prst="rect">
            <a:avLst/>
          </a:prstGeom>
          <a:noFill/>
          <a:ln/>
        </p:spPr>
        <p:txBody>
          <a:bodyPr wrap="square" lIns="0" tIns="0" rIns="0" bIns="0" rtlCol="0" anchor="ctr"/>
          <a:lstStyle/>
          <a:p>
            <a:pPr indent="0" marL="0">
              <a:buNone/>
            </a:pPr>
            <a:r>
              <a:rPr lang="en-US" sz="1200" dirty="0">
                <a:solidFill>
                  <a:srgbClr val="6E6C66"/>
                </a:solidFill>
                <a:latin typeface="Calibri" pitchFamily="34" charset="0"/>
                <a:ea typeface="Calibri" pitchFamily="34" charset="-122"/>
                <a:cs typeface="Calibri" pitchFamily="34" charset="-120"/>
              </a:rPr>
              <a:t>The lab-vs-road gap, 1975–2024</a:t>
            </a:r>
            <a:endParaRPr lang="en-US" sz="1200" dirty="0"/>
          </a:p>
        </p:txBody>
      </p:sp>
      <p:sp>
        <p:nvSpPr>
          <p:cNvPr id="9" name="Text 6"/>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Full limitations: reports/19_final_model.md, 29_productivity.md, 31_ice_productivity.md.</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4181E"/>
        </a:solidFill>
      </p:bgPr>
    </p:bg>
    <p:spTree>
      <p:nvGrpSpPr>
        <p:cNvPr id="1" name=""/>
        <p:cNvGrpSpPr/>
        <p:nvPr/>
      </p:nvGrpSpPr>
      <p:grpSpPr>
        <a:xfrm>
          <a:off x="0" y="0"/>
          <a:ext cx="0" cy="0"/>
          <a:chOff x="0" y="0"/>
          <a:chExt cx="0" cy="0"/>
        </a:xfrm>
      </p:grpSpPr>
      <p:sp>
        <p:nvSpPr>
          <p:cNvPr id="2" name="Text 0"/>
          <p:cNvSpPr txBox="1"/>
          <p:nvPr/>
        </p:nvSpPr>
        <p:spPr>
          <a:xfrm>
            <a:off x="731520" y="640080"/>
            <a:ext cx="10698480" cy="822960"/>
          </a:xfrm>
          <a:prstGeom prst="rect">
            <a:avLst/>
          </a:prstGeom>
          <a:noFill/>
          <a:ln/>
        </p:spPr>
        <p:txBody>
          <a:bodyPr wrap="square" lIns="0" tIns="0" rIns="0" bIns="0" rtlCol="0" anchor="ctr"/>
          <a:lstStyle/>
          <a:p>
            <a:pPr indent="0" marL="0">
              <a:buNone/>
            </a:pPr>
            <a:r>
              <a:rPr lang="en-US" sz="3800" b="1" dirty="0">
                <a:solidFill>
                  <a:srgbClr val="FFFFFF"/>
                </a:solidFill>
                <a:latin typeface="Calibri" pitchFamily="34" charset="0"/>
                <a:ea typeface="Calibri" pitchFamily="34" charset="-122"/>
                <a:cs typeface="Calibri" pitchFamily="34" charset="-120"/>
              </a:rPr>
              <a:t>Predict the vehicle, predict the wallet</a:t>
            </a:r>
            <a:endParaRPr lang="en-US" sz="3800" dirty="0"/>
          </a:p>
        </p:txBody>
      </p:sp>
      <p:sp>
        <p:nvSpPr>
          <p:cNvPr id="3" name="Text 1"/>
          <p:cNvSpPr txBox="1"/>
          <p:nvPr/>
        </p:nvSpPr>
        <p:spPr>
          <a:xfrm>
            <a:off x="731520" y="1828800"/>
            <a:ext cx="3474720" cy="777240"/>
          </a:xfrm>
          <a:prstGeom prst="rect">
            <a:avLst/>
          </a:prstGeom>
          <a:noFill/>
          <a:ln/>
        </p:spPr>
        <p:txBody>
          <a:bodyPr wrap="square" lIns="0" tIns="0" rIns="0" bIns="0" rtlCol="0" anchor="ctr"/>
          <a:lstStyle/>
          <a:p>
            <a:pPr indent="0" marL="0">
              <a:buNone/>
            </a:pPr>
            <a:r>
              <a:rPr lang="en-US" sz="4000" b="1" dirty="0">
                <a:solidFill>
                  <a:srgbClr val="C9DDF6"/>
                </a:solidFill>
                <a:latin typeface="Calibri" pitchFamily="34" charset="0"/>
                <a:ea typeface="Calibri" pitchFamily="34" charset="-122"/>
                <a:cs typeface="Calibri" pitchFamily="34" charset="-120"/>
              </a:rPr>
              <a:t>0.846</a:t>
            </a:r>
            <a:endParaRPr lang="en-US" sz="4000" dirty="0"/>
          </a:p>
        </p:txBody>
      </p:sp>
      <p:sp>
        <p:nvSpPr>
          <p:cNvPr id="4" name="Text 2"/>
          <p:cNvSpPr txBox="1"/>
          <p:nvPr/>
        </p:nvSpPr>
        <p:spPr>
          <a:xfrm>
            <a:off x="731520" y="2606040"/>
            <a:ext cx="3474720" cy="914400"/>
          </a:xfrm>
          <a:prstGeom prst="rect">
            <a:avLst/>
          </a:prstGeom>
          <a:noFill/>
          <a:ln/>
        </p:spPr>
        <p:txBody>
          <a:bodyPr wrap="square" lIns="0" tIns="0" rIns="0" bIns="0" rtlCol="0" anchor="ctr"/>
          <a:lstStyle/>
          <a:p>
            <a:pPr indent="0" marL="0">
              <a:buNone/>
            </a:pPr>
            <a:r>
              <a:rPr lang="en-US" sz="1300" dirty="0">
                <a:solidFill>
                  <a:srgbClr val="C7CDD6"/>
                </a:solidFill>
                <a:latin typeface="Calibri" pitchFamily="34" charset="0"/>
                <a:ea typeface="Calibri" pitchFamily="34" charset="-122"/>
                <a:cs typeface="Calibri" pitchFamily="34" charset="-120"/>
              </a:rPr>
              <a:t>R² of the four-variable MPG equation on 1,025 MY2024 vehicles</a:t>
            </a:r>
            <a:endParaRPr lang="en-US" sz="1300" dirty="0"/>
          </a:p>
        </p:txBody>
      </p:sp>
      <p:sp>
        <p:nvSpPr>
          <p:cNvPr id="5" name="Text 3"/>
          <p:cNvSpPr txBox="1"/>
          <p:nvPr/>
        </p:nvSpPr>
        <p:spPr>
          <a:xfrm>
            <a:off x="4572000" y="1828800"/>
            <a:ext cx="3474720" cy="777240"/>
          </a:xfrm>
          <a:prstGeom prst="rect">
            <a:avLst/>
          </a:prstGeom>
          <a:noFill/>
          <a:ln/>
        </p:spPr>
        <p:txBody>
          <a:bodyPr wrap="square" lIns="0" tIns="0" rIns="0" bIns="0" rtlCol="0" anchor="ctr"/>
          <a:lstStyle/>
          <a:p>
            <a:pPr indent="0" marL="0">
              <a:buNone/>
            </a:pPr>
            <a:r>
              <a:rPr lang="en-US" sz="4000" b="1" dirty="0">
                <a:solidFill>
                  <a:srgbClr val="C9DDF6"/>
                </a:solidFill>
                <a:latin typeface="Calibri" pitchFamily="34" charset="0"/>
                <a:ea typeface="Calibri" pitchFamily="34" charset="-122"/>
                <a:cs typeface="Calibri" pitchFamily="34" charset="-120"/>
              </a:rPr>
              <a:t>+1.9%/yr</a:t>
            </a:r>
            <a:endParaRPr lang="en-US" sz="4000" dirty="0"/>
          </a:p>
        </p:txBody>
      </p:sp>
      <p:sp>
        <p:nvSpPr>
          <p:cNvPr id="6" name="Text 4"/>
          <p:cNvSpPr txBox="1"/>
          <p:nvPr/>
        </p:nvSpPr>
        <p:spPr>
          <a:xfrm>
            <a:off x="4572000" y="2606040"/>
            <a:ext cx="3474720" cy="914400"/>
          </a:xfrm>
          <a:prstGeom prst="rect">
            <a:avLst/>
          </a:prstGeom>
          <a:noFill/>
          <a:ln/>
        </p:spPr>
        <p:txBody>
          <a:bodyPr wrap="square" lIns="0" tIns="0" rIns="0" bIns="0" rtlCol="0" anchor="ctr"/>
          <a:lstStyle/>
          <a:p>
            <a:pPr indent="0" marL="0">
              <a:buNone/>
            </a:pPr>
            <a:r>
              <a:rPr lang="en-US" sz="1300" dirty="0">
                <a:solidFill>
                  <a:srgbClr val="C7CDD6"/>
                </a:solidFill>
                <a:latin typeface="Calibri" pitchFamily="34" charset="0"/>
                <a:ea typeface="Calibri" pitchFamily="34" charset="-122"/>
                <a:cs typeface="Calibri" pitchFamily="34" charset="-120"/>
              </a:rPr>
              <a:t>fifty years of design-normalized efficiency productivity, R² 0.984</a:t>
            </a:r>
            <a:endParaRPr lang="en-US" sz="1300" dirty="0"/>
          </a:p>
        </p:txBody>
      </p:sp>
      <p:sp>
        <p:nvSpPr>
          <p:cNvPr id="7" name="Text 5"/>
          <p:cNvSpPr txBox="1"/>
          <p:nvPr/>
        </p:nvSpPr>
        <p:spPr>
          <a:xfrm>
            <a:off x="8412480" y="1828800"/>
            <a:ext cx="3474720" cy="777240"/>
          </a:xfrm>
          <a:prstGeom prst="rect">
            <a:avLst/>
          </a:prstGeom>
          <a:noFill/>
          <a:ln/>
        </p:spPr>
        <p:txBody>
          <a:bodyPr wrap="square" lIns="0" tIns="0" rIns="0" bIns="0" rtlCol="0" anchor="ctr"/>
          <a:lstStyle/>
          <a:p>
            <a:pPr indent="0" marL="0">
              <a:buNone/>
            </a:pPr>
            <a:r>
              <a:rPr lang="en-US" sz="4000" b="1" dirty="0">
                <a:solidFill>
                  <a:srgbClr val="C9DDF6"/>
                </a:solidFill>
                <a:latin typeface="Calibri" pitchFamily="34" charset="0"/>
                <a:ea typeface="Calibri" pitchFamily="34" charset="-122"/>
                <a:cs typeface="Calibri" pitchFamily="34" charset="-120"/>
              </a:rPr>
              <a:t>40–44</a:t>
            </a:r>
            <a:endParaRPr lang="en-US" sz="4000" dirty="0"/>
          </a:p>
        </p:txBody>
      </p:sp>
      <p:sp>
        <p:nvSpPr>
          <p:cNvPr id="8" name="Text 6"/>
          <p:cNvSpPr txBox="1"/>
          <p:nvPr/>
        </p:nvSpPr>
        <p:spPr>
          <a:xfrm>
            <a:off x="8412480" y="2606040"/>
            <a:ext cx="3474720" cy="914400"/>
          </a:xfrm>
          <a:prstGeom prst="rect">
            <a:avLst/>
          </a:prstGeom>
          <a:noFill/>
          <a:ln/>
        </p:spPr>
        <p:txBody>
          <a:bodyPr wrap="square" lIns="0" tIns="0" rIns="0" bIns="0" rtlCol="0" anchor="ctr"/>
          <a:lstStyle/>
          <a:p>
            <a:pPr indent="0" marL="0">
              <a:buNone/>
            </a:pPr>
            <a:r>
              <a:rPr lang="en-US" sz="1300" dirty="0">
                <a:solidFill>
                  <a:srgbClr val="C7CDD6"/>
                </a:solidFill>
                <a:latin typeface="Calibri" pitchFamily="34" charset="0"/>
                <a:ea typeface="Calibri" pitchFamily="34" charset="-122"/>
                <a:cs typeface="Calibri" pitchFamily="34" charset="-120"/>
              </a:rPr>
              <a:t>MPG-equivalent by 2045 at trend; the sales mix decides the last five</a:t>
            </a:r>
            <a:endParaRPr lang="en-US" sz="1300" dirty="0"/>
          </a:p>
        </p:txBody>
      </p:sp>
      <p:sp>
        <p:nvSpPr>
          <p:cNvPr id="9" name="Text 7"/>
          <p:cNvSpPr txBox="1"/>
          <p:nvPr/>
        </p:nvSpPr>
        <p:spPr>
          <a:xfrm>
            <a:off x="731520" y="3931920"/>
            <a:ext cx="10698480" cy="201168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The chain this equation unlocks:
</a:t>
            </a:r>
            <a:pPr indent="0" marL="0">
              <a:buNone/>
            </a:pPr>
            <a:r>
              <a:rPr lang="en-US" sz="1600" dirty="0">
                <a:solidFill>
                  <a:srgbClr val="C7CDD6"/>
                </a:solidFill>
                <a:latin typeface="Calibri" pitchFamily="34" charset="0"/>
                <a:ea typeface="Calibri" pitchFamily="34" charset="-122"/>
                <a:cs typeface="Calibri" pitchFamily="34" charset="-120"/>
              </a:rPr>
              <a:t>design  →  MPG  →  cost per mile  →  what consumers buy  →  the national fleet's fuel economy.</a:t>
            </a:r>
            <a:endParaRPr lang="en-US" sz="1600" dirty="0"/>
          </a:p>
          <a:p>
            <a:pPr indent="0" marL="0">
              <a:buNone/>
            </a:pPr>
            <a:endParaRPr lang="en-US" sz="1600" dirty="0"/>
          </a:p>
          <a:p>
            <a:pPr indent="0" marL="0">
              <a:buNone/>
            </a:pPr>
            <a:r>
              <a:rPr lang="en-US" sz="1600" dirty="0">
                <a:solidFill>
                  <a:srgbClr val="C7CDD6"/>
                </a:solidFill>
                <a:latin typeface="Calibri" pitchFamily="34" charset="0"/>
                <a:ea typeface="Calibri" pitchFamily="34" charset="-122"/>
                <a:cs typeface="Calibri" pitchFamily="34" charset="-120"/>
              </a:rPr>
              <a:t>Once MPG is predictable from design, fleet efficiency and consumer fuel spending become predictable from the sales mix — the truck takeover, the hybrid climb, and the EV transition all become forecastable dollar flows.</a:t>
            </a:r>
            <a:endParaRPr lang="en-US" sz="1600" dirty="0"/>
          </a:p>
        </p:txBody>
      </p:sp>
      <p:sp>
        <p:nvSpPr>
          <p:cNvPr id="10" name="Text 8"/>
          <p:cNvSpPr txBox="1"/>
          <p:nvPr/>
        </p:nvSpPr>
        <p:spPr>
          <a:xfrm>
            <a:off x="731520" y="6263640"/>
            <a:ext cx="10698480" cy="365760"/>
          </a:xfrm>
          <a:prstGeom prst="rect">
            <a:avLst/>
          </a:prstGeom>
          <a:noFill/>
          <a:ln/>
        </p:spPr>
        <p:txBody>
          <a:bodyPr wrap="square" lIns="0" tIns="0" rIns="0" bIns="0" rtlCol="0" anchor="ctr"/>
          <a:lstStyle/>
          <a:p>
            <a:pPr indent="0" marL="0">
              <a:buNone/>
            </a:pPr>
            <a:r>
              <a:rPr lang="en-US" sz="1200" dirty="0">
                <a:solidFill>
                  <a:srgbClr val="9AA3AE"/>
                </a:solidFill>
                <a:latin typeface="Calibri" pitchFamily="34" charset="0"/>
                <a:ea typeface="Calibri" pitchFamily="34" charset="-122"/>
                <a:cs typeface="Calibri" pitchFamily="34" charset="-120"/>
              </a:rPr>
              <a:t>Questions — full pipeline, sources, and 46 supporting figures available (DATA_SOURCES.md, SHORTSTORY.md)</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1300" b="1" dirty="0">
                <a:solidFill>
                  <a:srgbClr val="EB6834"/>
                </a:solidFill>
                <a:latin typeface="Calibri" pitchFamily="34" charset="0"/>
                <a:ea typeface="Calibri" pitchFamily="34" charset="-122"/>
                <a:cs typeface="Calibri" pitchFamily="34" charset="-120"/>
              </a:rPr>
              <a:t>BACKUP   </a:t>
            </a:r>
            <a:pPr indent="0" marL="0">
              <a:buNone/>
            </a:pPr>
            <a:r>
              <a:rPr lang="en-US" sz="2600" b="1" dirty="0">
                <a:solidFill>
                  <a:srgbClr val="0B0B0B"/>
                </a:solidFill>
                <a:latin typeface="Calibri" pitchFamily="34" charset="0"/>
                <a:ea typeface="Calibri" pitchFamily="34" charset="-122"/>
                <a:cs typeface="Calibri" pitchFamily="34" charset="-120"/>
              </a:rPr>
              <a:t>The relationship survives every specification we threw at it</a:t>
            </a:r>
            <a:endParaRPr lang="en-US" sz="13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8412480" cy="914400"/>
        </p:xfrm>
        <a:graphic>
          <a:graphicData uri="http://schemas.openxmlformats.org/drawingml/2006/table">
            <a:tbl>
              <a:tblPr/>
              <a:tblGrid>
                <a:gridCol w="3291840"/>
                <a:gridCol w="2651760"/>
                <a:gridCol w="1005840"/>
                <a:gridCol w="1463040"/>
              </a:tblGrid>
              <a:tr h="420624">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Specification</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Dataset</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R²</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20624">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Main: log-log, four predictors</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EPA MY2024 compliance</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1,025</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0.846</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20624">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Linear DV (MPG, not ln)</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EPA MY2024 compliance</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1,025</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0.804</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20624">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Drop footprint (collinear term)</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EPA MY2024 compliance</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1,025</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0.846</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20624">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Catalog model, years 2000+</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fueleconomy.gov catalog</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30,659</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0.777</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20624">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Catalog model, years 2020+</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fueleconomy.gov catalog</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7,890</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0.710</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20624">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BEV companion: MPGe on weight</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EPA MY2024, true BEVs</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153</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0.708</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9235440" y="1463040"/>
            <a:ext cx="2468880" cy="4206240"/>
          </a:xfrm>
          <a:prstGeom prst="rect">
            <a:avLst/>
          </a:prstGeom>
          <a:noFill/>
          <a:ln/>
        </p:spPr>
        <p:txBody>
          <a:bodyPr wrap="square" lIns="0" tIns="0" rIns="0" bIns="0" rtlCol="0" anchor="ctr"/>
          <a:lstStyle/>
          <a:p>
            <a:pPr indent="0" marL="0">
              <a:buNone/>
            </a:pPr>
            <a:r>
              <a:rPr lang="en-US" sz="1300" b="1" dirty="0">
                <a:solidFill>
                  <a:srgbClr val="000000"/>
                </a:solidFill>
                <a:latin typeface="Calibri" pitchFamily="34" charset="0"/>
                <a:ea typeface="Calibri" pitchFamily="34" charset="-122"/>
                <a:cs typeface="Calibri" pitchFamily="34" charset="-120"/>
              </a:rPr>
              <a:t>Two findings inside the table:
</a:t>
            </a:r>
            <a:pPr indent="0" marL="0">
              <a:buNone/>
            </a:pPr>
            <a:r>
              <a:rPr lang="en-US" sz="1300" dirty="0">
                <a:solidFill>
                  <a:srgbClr val="0B0B0B"/>
                </a:solidFill>
                <a:latin typeface="Calibri" pitchFamily="34" charset="0"/>
                <a:ea typeface="Calibri" pitchFamily="34" charset="-122"/>
                <a:cs typeface="Calibri" pitchFamily="34" charset="-120"/>
              </a:rPr>
              <a:t>2020+ R² dips because engine downsizing compressed displacement variance — the fleet homogenized, not the physics.</a:t>
            </a:r>
            <a:endParaRPr lang="en-US" sz="1300" dirty="0"/>
          </a:p>
          <a:p>
            <a:pPr indent="0" marL="0">
              <a:buNone/>
            </a:pPr>
            <a:endParaRPr lang="en-US" sz="1300" dirty="0"/>
          </a:p>
          <a:p>
            <a:pPr indent="0" marL="0">
              <a:buNone/>
            </a:pPr>
            <a:r>
              <a:rPr lang="en-US" sz="1300" dirty="0">
                <a:solidFill>
                  <a:srgbClr val="0B0B0B"/>
                </a:solidFill>
                <a:latin typeface="Calibri" pitchFamily="34" charset="0"/>
                <a:ea typeface="Calibri" pitchFamily="34" charset="-122"/>
                <a:cs typeface="Calibri" pitchFamily="34" charset="-120"/>
              </a:rPr>
              <a:t>BEV efficiency obeys the same mass law: weight elasticity −0.97, nearly unit-elastic.</a:t>
            </a:r>
            <a:endParaRPr lang="en-US" sz="1300" dirty="0"/>
          </a:p>
        </p:txBody>
      </p:sp>
      <p:sp>
        <p:nvSpPr>
          <p:cNvPr id="5" name="Text 2"/>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reports/19_final_model.md and era fits (SHORTSTORY.md §3).</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1300" b="1" dirty="0">
                <a:solidFill>
                  <a:srgbClr val="EB6834"/>
                </a:solidFill>
                <a:latin typeface="Calibri" pitchFamily="34" charset="0"/>
                <a:ea typeface="Calibri" pitchFamily="34" charset="-122"/>
                <a:cs typeface="Calibri" pitchFamily="34" charset="-120"/>
              </a:rPr>
              <a:t>BACKUP   </a:t>
            </a:r>
            <a:pPr indent="0" marL="0">
              <a:buNone/>
            </a:pPr>
            <a:r>
              <a:rPr lang="en-US" sz="2600" b="1" dirty="0">
                <a:solidFill>
                  <a:srgbClr val="0B0B0B"/>
                </a:solidFill>
                <a:latin typeface="Calibri" pitchFamily="34" charset="0"/>
                <a:ea typeface="Calibri" pitchFamily="34" charset="-122"/>
                <a:cs typeface="Calibri" pitchFamily="34" charset="-120"/>
              </a:rPr>
              <a:t>The eras were found by algorithm, not by eye</a:t>
            </a:r>
            <a:endParaRPr lang="en-US" sz="1300" dirty="0"/>
          </a:p>
        </p:txBody>
      </p:sp>
      <p:pic>
        <p:nvPicPr>
          <p:cNvPr id="3" name="Image 0" descr="C:\Users\Samson\Desktop\Homework\OS3180\Final Project\charts\fig16_changepoints.png">    </p:cNvPr>
          <p:cNvPicPr>
            <a:picLocks noChangeAspect="1"/>
          </p:cNvPicPr>
          <p:nvPr/>
        </p:nvPicPr>
        <p:blipFill>
          <a:blip r:embed="rId1"/>
          <a:stretch>
            <a:fillRect/>
          </a:stretch>
        </p:blipFill>
        <p:spPr>
          <a:xfrm>
            <a:off x="502920" y="1234440"/>
            <a:ext cx="7498080" cy="4362519"/>
          </a:xfrm>
          <a:prstGeom prst="rect">
            <a:avLst/>
          </a:prstGeom>
        </p:spPr>
      </p:pic>
      <p:sp>
        <p:nvSpPr>
          <p:cNvPr id="4" name="Text 1"/>
          <p:cNvSpPr txBox="1"/>
          <p:nvPr/>
        </p:nvSpPr>
        <p:spPr>
          <a:xfrm>
            <a:off x="8321040" y="1463040"/>
            <a:ext cx="3337560" cy="4206240"/>
          </a:xfrm>
          <a:prstGeom prst="rect">
            <a:avLst/>
          </a:prstGeom>
          <a:noFill/>
          <a:ln/>
        </p:spPr>
        <p:txBody>
          <a:bodyPr wrap="square" lIns="0" tIns="0" rIns="0" bIns="0" rtlCol="0" anchor="ctr"/>
          <a:lstStyle/>
          <a:p>
            <a:pPr indent="0" marL="0">
              <a:buNone/>
            </a:pPr>
            <a:r>
              <a:rPr lang="en-US" sz="1450" dirty="0">
                <a:solidFill>
                  <a:srgbClr val="0B0B0B"/>
                </a:solidFill>
                <a:latin typeface="Calibri" pitchFamily="34" charset="0"/>
                <a:ea typeface="Calibri" pitchFamily="34" charset="-122"/>
                <a:cs typeface="Calibri" pitchFamily="34" charset="-120"/>
              </a:rPr>
              <a:t>BIC-selected piecewise-linear breaks land at 1983, 2003, and 2013, each significant by Chow test (F = 13.7, 6.1, 3.5). The three-act story is a model-selection result, not an annotation choice.</a:t>
            </a:r>
            <a:endParaRPr lang="en-US" sz="1450" dirty="0"/>
          </a:p>
        </p:txBody>
      </p:sp>
      <p:sp>
        <p:nvSpPr>
          <p:cNvPr id="5" name="Text 2"/>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Exhaustive SSE search over break locations, order by BIC; reports/10_statistics.md.</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1300" b="1" dirty="0">
                <a:solidFill>
                  <a:srgbClr val="EB6834"/>
                </a:solidFill>
                <a:latin typeface="Calibri" pitchFamily="34" charset="0"/>
                <a:ea typeface="Calibri" pitchFamily="34" charset="-122"/>
                <a:cs typeface="Calibri" pitchFamily="34" charset="-120"/>
              </a:rPr>
              <a:t>BACKUP   </a:t>
            </a:r>
            <a:pPr indent="0" marL="0">
              <a:buNone/>
            </a:pPr>
            <a:r>
              <a:rPr lang="en-US" sz="2600" b="1" dirty="0">
                <a:solidFill>
                  <a:srgbClr val="0B0B0B"/>
                </a:solidFill>
                <a:latin typeface="Calibri" pitchFamily="34" charset="0"/>
                <a:ea typeface="Calibri" pitchFamily="34" charset="-122"/>
                <a:cs typeface="Calibri" pitchFamily="34" charset="-120"/>
              </a:rPr>
              <a:t>We audited our own story: gas prices explain almost none of the mix shift</a:t>
            </a:r>
            <a:endParaRPr lang="en-US" sz="1300" dirty="0"/>
          </a:p>
        </p:txBody>
      </p:sp>
      <p:pic>
        <p:nvPicPr>
          <p:cNvPr id="3" name="Image 0" descr="C:\Users\Samson\Desktop\Homework\OS3180\Final Project\charts\fig19_correlation_that_wasnt.png">    </p:cNvPr>
          <p:cNvPicPr>
            <a:picLocks noChangeAspect="1"/>
          </p:cNvPicPr>
          <p:nvPr/>
        </p:nvPicPr>
        <p:blipFill>
          <a:blip r:embed="rId1"/>
          <a:stretch>
            <a:fillRect/>
          </a:stretch>
        </p:blipFill>
        <p:spPr>
          <a:xfrm>
            <a:off x="502920" y="1234440"/>
            <a:ext cx="7498080" cy="4362519"/>
          </a:xfrm>
          <a:prstGeom prst="rect">
            <a:avLst/>
          </a:prstGeom>
        </p:spPr>
      </p:pic>
      <p:sp>
        <p:nvSpPr>
          <p:cNvPr id="4" name="Text 1"/>
          <p:cNvSpPr txBox="1"/>
          <p:nvPr/>
        </p:nvSpPr>
        <p:spPr>
          <a:xfrm>
            <a:off x="8321040" y="1463040"/>
            <a:ext cx="3337560" cy="4206240"/>
          </a:xfrm>
          <a:prstGeom prst="rect">
            <a:avLst/>
          </a:prstGeom>
          <a:noFill/>
          <a:ln/>
        </p:spPr>
        <p:txBody>
          <a:bodyPr wrap="square" lIns="0" tIns="0" rIns="0" bIns="0" rtlCol="0" anchor="ctr"/>
          <a:lstStyle/>
          <a:p>
            <a:pPr indent="0" marL="0">
              <a:buNone/>
            </a:pPr>
            <a:r>
              <a:rPr lang="en-US" sz="1450" dirty="0">
                <a:solidFill>
                  <a:srgbClr val="0B0B0B"/>
                </a:solidFill>
                <a:latin typeface="Calibri" pitchFamily="34" charset="0"/>
                <a:ea typeface="Calibri" pitchFamily="34" charset="-122"/>
                <a:cs typeface="Calibri" pitchFamily="34" charset="-120"/>
              </a:rPr>
              <a:t>The overlay everyone believes: cheap gas killed the sedan. The regression: levels r-squared 0.007, differenced 0.003. The same audit killed the cheap-credit story (levels 0.57, differenced not significant). One episode survived testing: 1979.</a:t>
            </a:r>
            <a:endParaRPr lang="en-US" sz="1450" dirty="0"/>
          </a:p>
        </p:txBody>
      </p:sp>
      <p:sp>
        <p:nvSpPr>
          <p:cNvPr id="5" name="Text 2"/>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1976-2024 annual; reports/10_statistics.md section 4.</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1300" b="1" dirty="0">
                <a:solidFill>
                  <a:srgbClr val="EB6834"/>
                </a:solidFill>
                <a:latin typeface="Calibri" pitchFamily="34" charset="0"/>
                <a:ea typeface="Calibri" pitchFamily="34" charset="-122"/>
                <a:cs typeface="Calibri" pitchFamily="34" charset="-120"/>
              </a:rPr>
              <a:t>BACKUP   </a:t>
            </a:r>
            <a:pPr indent="0" marL="0">
              <a:buNone/>
            </a:pPr>
            <a:r>
              <a:rPr lang="en-US" sz="2600" b="1" dirty="0">
                <a:solidFill>
                  <a:srgbClr val="0B0B0B"/>
                </a:solidFill>
                <a:latin typeface="Calibri" pitchFamily="34" charset="0"/>
                <a:ea typeface="Calibri" pitchFamily="34" charset="-122"/>
                <a:cs typeface="Calibri" pitchFamily="34" charset="-120"/>
              </a:rPr>
              <a:t>Buyers systematically choose better MPG than the catalog median</a:t>
            </a:r>
            <a:endParaRPr lang="en-US" sz="1300" dirty="0"/>
          </a:p>
        </p:txBody>
      </p:sp>
      <p:pic>
        <p:nvPicPr>
          <p:cNvPr id="3" name="Image 0" descr="C:\Users\Samson\Desktop\Homework\OS3180\Final Project\charts\fig17_distribution_shift.png">    </p:cNvPr>
          <p:cNvPicPr>
            <a:picLocks noChangeAspect="1"/>
          </p:cNvPicPr>
          <p:nvPr/>
        </p:nvPicPr>
        <p:blipFill>
          <a:blip r:embed="rId1"/>
          <a:stretch>
            <a:fillRect/>
          </a:stretch>
        </p:blipFill>
        <p:spPr>
          <a:xfrm>
            <a:off x="502920" y="1234440"/>
            <a:ext cx="7498080" cy="3953533"/>
          </a:xfrm>
          <a:prstGeom prst="rect">
            <a:avLst/>
          </a:prstGeom>
        </p:spPr>
      </p:pic>
      <p:sp>
        <p:nvSpPr>
          <p:cNvPr id="4" name="Text 1"/>
          <p:cNvSpPr txBox="1"/>
          <p:nvPr/>
        </p:nvSpPr>
        <p:spPr>
          <a:xfrm>
            <a:off x="8321040" y="1463040"/>
            <a:ext cx="3337560" cy="4206240"/>
          </a:xfrm>
          <a:prstGeom prst="rect">
            <a:avLst/>
          </a:prstGeom>
          <a:noFill/>
          <a:ln/>
        </p:spPr>
        <p:txBody>
          <a:bodyPr wrap="square" lIns="0" tIns="0" rIns="0" bIns="0" rtlCol="0" anchor="ctr"/>
          <a:lstStyle/>
          <a:p>
            <a:pPr indent="0" marL="0">
              <a:buNone/>
            </a:pPr>
            <a:r>
              <a:rPr lang="en-US" sz="1450" dirty="0">
                <a:solidFill>
                  <a:srgbClr val="0B0B0B"/>
                </a:solidFill>
                <a:latin typeface="Calibri" pitchFamily="34" charset="0"/>
                <a:ea typeface="Calibri" pitchFamily="34" charset="-122"/>
                <a:cs typeface="Calibri" pitchFamily="34" charset="-120"/>
              </a:rPr>
              <a:t>Offered vs production-weighted MPG, MY2024: KS D = 0.211, a 3.5-MPG median shift toward efficiency, Wasserstein 3.06 MPG. Production is concentrated: Gini 0.731; 23% of carlines carry 80% of volume.</a:t>
            </a:r>
            <a:endParaRPr lang="en-US" sz="1450" dirty="0"/>
          </a:p>
        </p:txBody>
      </p:sp>
      <p:sp>
        <p:nvSpPr>
          <p:cNvPr id="5" name="Text 2"/>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MY2024 combustion model types; reports/10_statistics.md section 2.</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1300" b="1" dirty="0">
                <a:solidFill>
                  <a:srgbClr val="EB6834"/>
                </a:solidFill>
                <a:latin typeface="Calibri" pitchFamily="34" charset="0"/>
                <a:ea typeface="Calibri" pitchFamily="34" charset="-122"/>
                <a:cs typeface="Calibri" pitchFamily="34" charset="-120"/>
              </a:rPr>
              <a:t>BACKUP   </a:t>
            </a:r>
            <a:pPr indent="0" marL="0">
              <a:buNone/>
            </a:pPr>
            <a:r>
              <a:rPr lang="en-US" sz="2600" b="1" dirty="0">
                <a:solidFill>
                  <a:srgbClr val="0B0B0B"/>
                </a:solidFill>
                <a:latin typeface="Calibri" pitchFamily="34" charset="0"/>
                <a:ea typeface="Calibri" pitchFamily="34" charset="-122"/>
                <a:cs typeface="Calibri" pitchFamily="34" charset="-120"/>
              </a:rPr>
              <a:t>Sticker history: the era when electric meant expensive</a:t>
            </a:r>
            <a:endParaRPr lang="en-US" sz="1300" dirty="0"/>
          </a:p>
        </p:txBody>
      </p:sp>
      <p:pic>
        <p:nvPicPr>
          <p:cNvPr id="3" name="Image 0" descr="C:\Users\Samson\Desktop\Homework\OS3180\Final Project\charts\fig41_msrp_by_powertrain.png">    </p:cNvPr>
          <p:cNvPicPr>
            <a:picLocks noChangeAspect="1"/>
          </p:cNvPicPr>
          <p:nvPr/>
        </p:nvPicPr>
        <p:blipFill>
          <a:blip r:embed="rId1"/>
          <a:stretch>
            <a:fillRect/>
          </a:stretch>
        </p:blipFill>
        <p:spPr>
          <a:xfrm>
            <a:off x="502920" y="1234440"/>
            <a:ext cx="7498080" cy="4362519"/>
          </a:xfrm>
          <a:prstGeom prst="rect">
            <a:avLst/>
          </a:prstGeom>
        </p:spPr>
      </p:pic>
      <p:sp>
        <p:nvSpPr>
          <p:cNvPr id="4" name="Text 1"/>
          <p:cNvSpPr txBox="1"/>
          <p:nvPr/>
        </p:nvSpPr>
        <p:spPr>
          <a:xfrm>
            <a:off x="8321040" y="1463040"/>
            <a:ext cx="3337560" cy="4206240"/>
          </a:xfrm>
          <a:prstGeom prst="rect">
            <a:avLst/>
          </a:prstGeom>
          <a:noFill/>
          <a:ln/>
        </p:spPr>
        <p:txBody>
          <a:bodyPr wrap="square" lIns="0" tIns="0" rIns="0" bIns="0" rtlCol="0" anchor="ctr"/>
          <a:lstStyle/>
          <a:p>
            <a:pPr indent="0" marL="0">
              <a:buNone/>
            </a:pPr>
            <a:r>
              <a:rPr lang="en-US" sz="1450" dirty="0">
                <a:solidFill>
                  <a:srgbClr val="0B0B0B"/>
                </a:solidFill>
                <a:latin typeface="Calibri" pitchFamily="34" charset="0"/>
                <a:ea typeface="Calibri" pitchFamily="34" charset="-122"/>
                <a:cs typeface="Calibri" pitchFamily="34" charset="-120"/>
              </a:rPr>
              <a:t>Trim-level MSRPs 2015-2020 (17.5k trims): hybrids the budget powertrain at $24-39k, gasoline $35-40k, the Mirai parked at $58.5k, BEV medians swinging $29-60k on 11-31 trims a year. By July 2026 the EV transaction premium compressed to $6,477.</a:t>
            </a:r>
            <a:endParaRPr lang="en-US" sz="1450" dirty="0"/>
          </a:p>
        </p:txBody>
      </p:sp>
      <p:sp>
        <p:nvSpPr>
          <p:cNvPr id="5" name="Text 2"/>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CarAPI sample feed, powertrain via fueleconomy.gov join (80.1%); reports/28_msrp.md.</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1300" b="1" dirty="0">
                <a:solidFill>
                  <a:srgbClr val="EB6834"/>
                </a:solidFill>
                <a:latin typeface="Calibri" pitchFamily="34" charset="0"/>
                <a:ea typeface="Calibri" pitchFamily="34" charset="-122"/>
                <a:cs typeface="Calibri" pitchFamily="34" charset="-120"/>
              </a:rPr>
              <a:t>BACKUP   </a:t>
            </a:r>
            <a:pPr indent="0" marL="0">
              <a:buNone/>
            </a:pPr>
            <a:r>
              <a:rPr lang="en-US" sz="2600" b="1" dirty="0">
                <a:solidFill>
                  <a:srgbClr val="0B0B0B"/>
                </a:solidFill>
                <a:latin typeface="Calibri" pitchFamily="34" charset="0"/>
                <a:ea typeface="Calibri" pitchFamily="34" charset="-122"/>
                <a:cs typeface="Calibri" pitchFamily="34" charset="-120"/>
              </a:rPr>
              <a:t>Driving on electrons has cost half as much for a decade</a:t>
            </a:r>
            <a:endParaRPr lang="en-US" sz="1300" dirty="0"/>
          </a:p>
        </p:txBody>
      </p:sp>
      <p:pic>
        <p:nvPicPr>
          <p:cNvPr id="3" name="Image 0" descr="C:\Users\Samson\Desktop\Homework\OS3180\Final Project\charts\fig33_cost_trends.png">    </p:cNvPr>
          <p:cNvPicPr>
            <a:picLocks noChangeAspect="1"/>
          </p:cNvPicPr>
          <p:nvPr/>
        </p:nvPicPr>
        <p:blipFill>
          <a:blip r:embed="rId1"/>
          <a:stretch>
            <a:fillRect/>
          </a:stretch>
        </p:blipFill>
        <p:spPr>
          <a:xfrm>
            <a:off x="502920" y="1234440"/>
            <a:ext cx="7498080" cy="4362519"/>
          </a:xfrm>
          <a:prstGeom prst="rect">
            <a:avLst/>
          </a:prstGeom>
        </p:spPr>
      </p:pic>
      <p:sp>
        <p:nvSpPr>
          <p:cNvPr id="4" name="Text 1"/>
          <p:cNvSpPr txBox="1"/>
          <p:nvPr/>
        </p:nvSpPr>
        <p:spPr>
          <a:xfrm>
            <a:off x="8321040" y="1463040"/>
            <a:ext cx="3337560" cy="4206240"/>
          </a:xfrm>
          <a:prstGeom prst="rect">
            <a:avLst/>
          </a:prstGeom>
          <a:noFill/>
          <a:ln/>
        </p:spPr>
        <p:txBody>
          <a:bodyPr wrap="square" lIns="0" tIns="0" rIns="0" bIns="0" rtlCol="0" anchor="ctr"/>
          <a:lstStyle/>
          <a:p>
            <a:pPr indent="0" marL="0">
              <a:buNone/>
            </a:pPr>
            <a:r>
              <a:rPr lang="en-US" sz="1450" dirty="0">
                <a:solidFill>
                  <a:srgbClr val="0B0B0B"/>
                </a:solidFill>
                <a:latin typeface="Calibri" pitchFamily="34" charset="0"/>
                <a:ea typeface="Calibri" pitchFamily="34" charset="-122"/>
                <a:cs typeface="Calibri" pitchFamily="34" charset="-120"/>
              </a:rPr>
              <a:t>Median energy cost per mile at each year's national prices: BEV 5-7 cents, gasoline 10-19. The 2024 gap is $1,007 vs $2,463 per 15,000 miles, and it narrows late as electricity prices climb while gas cars improve.</a:t>
            </a:r>
            <a:endParaRPr lang="en-US" sz="1450" dirty="0"/>
          </a:p>
        </p:txBody>
      </p:sp>
      <p:sp>
        <p:nvSpPr>
          <p:cNvPr id="5" name="Text 2"/>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fueleconomy.gov catalog x BLS prices; reports/23_powertrain.md.</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1300" b="1" dirty="0">
                <a:solidFill>
                  <a:srgbClr val="EB6834"/>
                </a:solidFill>
                <a:latin typeface="Calibri" pitchFamily="34" charset="0"/>
                <a:ea typeface="Calibri" pitchFamily="34" charset="-122"/>
                <a:cs typeface="Calibri" pitchFamily="34" charset="-120"/>
              </a:rPr>
              <a:t>BACKUP   </a:t>
            </a:r>
            <a:pPr indent="0" marL="0">
              <a:buNone/>
            </a:pPr>
            <a:r>
              <a:rPr lang="en-US" sz="2600" b="1" dirty="0">
                <a:solidFill>
                  <a:srgbClr val="0B0B0B"/>
                </a:solidFill>
                <a:latin typeface="Calibri" pitchFamily="34" charset="0"/>
                <a:ea typeface="Calibri" pitchFamily="34" charset="-122"/>
                <a:cs typeface="Calibri" pitchFamily="34" charset="-120"/>
              </a:rPr>
              <a:t>EVs ride the same productivity clock</a:t>
            </a:r>
            <a:endParaRPr lang="en-US" sz="1300" dirty="0"/>
          </a:p>
        </p:txBody>
      </p:sp>
      <p:pic>
        <p:nvPicPr>
          <p:cNvPr id="3" name="Image 0" descr="C:\Users\Samson\Desktop\Homework\OS3180\Final Project\charts\fig44_ev_productivity.png">    </p:cNvPr>
          <p:cNvPicPr>
            <a:picLocks noChangeAspect="1"/>
          </p:cNvPicPr>
          <p:nvPr/>
        </p:nvPicPr>
        <p:blipFill>
          <a:blip r:embed="rId1"/>
          <a:stretch>
            <a:fillRect/>
          </a:stretch>
        </p:blipFill>
        <p:spPr>
          <a:xfrm>
            <a:off x="502920" y="1234440"/>
            <a:ext cx="7498080" cy="4362519"/>
          </a:xfrm>
          <a:prstGeom prst="rect">
            <a:avLst/>
          </a:prstGeom>
        </p:spPr>
      </p:pic>
      <p:sp>
        <p:nvSpPr>
          <p:cNvPr id="4" name="Text 1"/>
          <p:cNvSpPr txBox="1"/>
          <p:nvPr/>
        </p:nvSpPr>
        <p:spPr>
          <a:xfrm>
            <a:off x="8321040" y="1463040"/>
            <a:ext cx="3337560" cy="4206240"/>
          </a:xfrm>
          <a:prstGeom prst="rect">
            <a:avLst/>
          </a:prstGeom>
          <a:noFill/>
          <a:ln/>
        </p:spPr>
        <p:txBody>
          <a:bodyPr wrap="square" lIns="0" tIns="0" rIns="0" bIns="0" rtlCol="0" anchor="ctr"/>
          <a:lstStyle/>
          <a:p>
            <a:pPr indent="0" marL="0">
              <a:buNone/>
            </a:pPr>
            <a:r>
              <a:rPr lang="en-US" sz="1450" dirty="0">
                <a:solidFill>
                  <a:srgbClr val="0B0B0B"/>
                </a:solidFill>
                <a:latin typeface="Calibri" pitchFamily="34" charset="0"/>
                <a:ea typeface="Calibri" pitchFamily="34" charset="-122"/>
                <a:cs typeface="Calibri" pitchFamily="34" charset="-120"/>
              </a:rPr>
              <a:t>The only production-weighted EV series with weight (EPA Trends' Tesla rows, 2012-2024), normalized with the BEV model's -0.975 elasticity: +2.36% per year, inside the combustion band. One clock, two energy carriers.</a:t>
            </a:r>
            <a:endParaRPr lang="en-US" sz="1450" dirty="0"/>
          </a:p>
        </p:txBody>
      </p:sp>
      <p:sp>
        <p:nvSpPr>
          <p:cNvPr id="5" name="Text 2"/>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Tesla as proxy, 13 points, model-mix included; reports/30_class_productivity.md.</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1300" b="1" dirty="0">
                <a:solidFill>
                  <a:srgbClr val="EB6834"/>
                </a:solidFill>
                <a:latin typeface="Calibri" pitchFamily="34" charset="0"/>
                <a:ea typeface="Calibri" pitchFamily="34" charset="-122"/>
                <a:cs typeface="Calibri" pitchFamily="34" charset="-120"/>
              </a:rPr>
              <a:t>BACKUP   </a:t>
            </a:r>
            <a:pPr indent="0" marL="0">
              <a:buNone/>
            </a:pPr>
            <a:r>
              <a:rPr lang="en-US" sz="2600" b="1" dirty="0">
                <a:solidFill>
                  <a:srgbClr val="0B0B0B"/>
                </a:solidFill>
                <a:latin typeface="Calibri" pitchFamily="34" charset="0"/>
                <a:ea typeface="Calibri" pitchFamily="34" charset="-122"/>
                <a:cs typeface="Calibri" pitchFamily="34" charset="-120"/>
              </a:rPr>
              <a:t>The 2023 Car SUV spike was the Model Y, and it vanishes ex-BEV</a:t>
            </a:r>
            <a:endParaRPr lang="en-US" sz="1300" dirty="0"/>
          </a:p>
        </p:txBody>
      </p:sp>
      <p:pic>
        <p:nvPicPr>
          <p:cNvPr id="3" name="Image 0" descr="C:\Users\Samson\Desktop\Homework\OS3180\Final Project\charts\fig46_ice_class_productivity.png">    </p:cNvPr>
          <p:cNvPicPr>
            <a:picLocks noChangeAspect="1"/>
          </p:cNvPicPr>
          <p:nvPr/>
        </p:nvPicPr>
        <p:blipFill>
          <a:blip r:embed="rId1"/>
          <a:stretch>
            <a:fillRect/>
          </a:stretch>
        </p:blipFill>
        <p:spPr>
          <a:xfrm>
            <a:off x="502920" y="1234440"/>
            <a:ext cx="7395882" cy="4572000"/>
          </a:xfrm>
          <a:prstGeom prst="rect">
            <a:avLst/>
          </a:prstGeom>
        </p:spPr>
      </p:pic>
      <p:sp>
        <p:nvSpPr>
          <p:cNvPr id="4" name="Text 1"/>
          <p:cNvSpPr txBox="1"/>
          <p:nvPr/>
        </p:nvSpPr>
        <p:spPr>
          <a:xfrm>
            <a:off x="8218842" y="1463040"/>
            <a:ext cx="3439758" cy="4206240"/>
          </a:xfrm>
          <a:prstGeom prst="rect">
            <a:avLst/>
          </a:prstGeom>
          <a:noFill/>
          <a:ln/>
        </p:spPr>
        <p:txBody>
          <a:bodyPr wrap="square" lIns="0" tIns="0" rIns="0" bIns="0" rtlCol="0" anchor="ctr"/>
          <a:lstStyle/>
          <a:p>
            <a:pPr indent="0" marL="0">
              <a:buNone/>
            </a:pPr>
            <a:r>
              <a:rPr lang="en-US" sz="1450" dirty="0">
                <a:solidFill>
                  <a:srgbClr val="0B0B0B"/>
                </a:solidFill>
                <a:latin typeface="Calibri" pitchFamily="34" charset="0"/>
                <a:ea typeface="Calibri" pitchFamily="34" charset="-122"/>
                <a:cs typeface="Calibri" pitchFamily="34" charset="-120"/>
              </a:rPr>
              <a:t>In-class BEV share went 0.6% (2019) to 35.7% (2023); remove it and the spike is gone, classes converging to 1.9-2.2% per year. The 2024 endpoint wiggle is mix, not missing data: 2024 is final (2025 is the preliminary year, excluded); the sedan dip disappears ex-BEV; the residual Car SUV dip is a lighter, less powerful 2024 ICE fleet plus first-order Tesla-proxy sensitivity at the 35.7% point.</a:t>
            </a:r>
            <a:endParaRPr lang="en-US" sz="1450" dirty="0"/>
          </a:p>
        </p:txBody>
      </p:sp>
      <p:sp>
        <p:nvSpPr>
          <p:cNvPr id="5" name="Text 2"/>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reports/31_ice_productivity.md incl. the endpoint decomposition.</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2026-09-11T15:39:21Z</dcterms:created>
  <dcterms:modified xsi:type="dcterms:W3CDTF">2026-09-11T15:39:21Z</dcterms:modified>
</cp:coreProperties>
</file>