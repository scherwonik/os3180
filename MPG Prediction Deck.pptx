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202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2290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BLUF: a log-log OLS model on EPA MY2024 compliance data predicts fuel economy with R-squared 0.846 from just four design variables. Today: where the data comes from, how the equation is derived, what it says, and what it unlocks.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with money, not units: a gas car costs about $2,500 a year to fuel, an EV about $1,000. Purchase price averages near $50k. MPG is the design lever behind the fuel line. Research question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of history: rise, 17-year trough, modern climb. The trough is where efficiency went into horsepower and pounds; the regression quantifies that exchange rate. Changepoint detection found these eras algorithmically at 1983, 2003, 2013.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terminology right out loud: MPG is the dependent variable; the four design measures are the independent variables. Signs predicted before fitting. EVs are excluded because MPGe measures a different quantity; they get their own model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survey and not scraped: these are compliance filings. One row per model type. Deduplicated production volumes; the two files join perfectly at carline level. Chain of custody is checksummed.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scatter first, model second. Footprint vs unadjusted MPG, dot area = production. The pattern is obvious; the point of regression is to disentangle correlated causes and put confidence bounds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equation, verbatim. Why logs: physics is multiplicative. Why elasticities: comparable, unit-free effect sizes. Why HC1: a Fiat and an F-350 do not share error variance. This is the slide to slow down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predictors reject zero; three at p under 0.001. R-squared 0.846, adjusted essentially identical — no overfitting with 205 observations per parameter. VIF maxes at 3.4: collinearity present (size travels with weight) but far from destabilizing.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against actual, one dot per model type, 45-degree line is perfection. Typical miss is a few MPG. Ask the room: guess a random 2024 vehicle's MPG knowing only weight, horsepower, footprint, and hybrid status — this is how close you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Elasticities in words. Power is the steepest lever; hybridization is worth 23% at constant everything else — that ranks the design menu: hybridize before lightweighting. The fig22 tie-back: engineering never stalled, allocation did, and these coefficients are the price sheet for that 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story in six specifications across two datasets and two DV definitions. The era comparison is itself informative: the model weakens after 2020 because everything became a two-liter turbo — homogenization, not physics failure. The BEV companion model shows electric efficiency is nearly unit-elastic in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consumers: predicted MPG converts directly to dollars per year. Payback arithmetic: $6,477 premium over $1,456 annual savings is about 4.5 years, energy only. The bar chart: efficiency also buys stability — the BEV's worst observed year beats gasoline's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limitations. The lab-vs-road chart earns its place: predictions are of the consistent lab measure; translating to driver experience needs the 31% haircut. Association not causation for any single redesign.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three numbers, then the forward thesis: prediction turns design menus and sales mixes into dollar forecasts. Leave 2-3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if asked how the eras on slide 3 were chosen: exhaustive changepoint search, BIC model order, Chow tests at the chosen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any causal question about gas prices or interest rates driving buying patterns: we tested both, both fail the differenced audit. Event study rescued exactly one episode, 1979.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consumer-behavior questions: demand tilts toward efficiency relative to the catalog, and volume concentrates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price-history questions. Emphasize MSRP vs ATP distinction: asking price vs price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fuel-cost trend questions. Energy only; excludes purchase, depreciation, DC-fast premiums; PHEV and diesel excluded with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forward-looking backup: normalization built from our own regression coefficients. Lead with the vanished trough, then the projection, then the caveats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MPG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 explain 85% of a vehicle's fuel economy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 ·  horsepower  ·  footprint  ·  hybrid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3810 Probability &amp; Statistics — Final Project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compliance data, 1,025 vehicles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economy is a household expense, not an abstraction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$2,463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cost of the median gasoline vehicle (15,000 miles, 2024 prices)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year of driving in the median battery-electric vehicle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$49,855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actually paid for a new vehicle, July 2026 (KBB)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49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is the lever connecting vehicle design to what drivers spend. If MPG can be predicted from design, consumer cost can be predicted from the sales mix.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75488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0EF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physical design variables predict a vehicle's fuel economy, and how well?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fueleconomy.gov catalog efficiency x BLS national prices (reports/23_powertrain.md). ATP: Kelley Blue Book / Cox Automotive, July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years of fuel economy: three acts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1_three_a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5582412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37160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1975–1987: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 to 22.0 MPG under new CAFE standards
</a:t>
            </a: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1987–2004: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falls to 19.3 while horsepower nearly doubles and weight regains 900 lbs
</a:t>
            </a: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2004–2024: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 MPG: technology finally moves economy, power, and size together
</a:t>
            </a:r>
            <a:r>
              <a:rPr lang="en-US" sz="140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trough is the point: the industry traded efficiency for weight and power. Our equation prices exactly that trade.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Automotive Trends, production-weighted. Chart: fig1; era breaks confirmed by BIC changepoint search (fig16).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dependent variable, four independent variables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6EF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(y):  </a:t>
            </a: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MPG — EPA unadjusted 2-cycle, one row per MY2024 combustion model type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0EF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30632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(x):
</a:t>
            </a: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Inertia weight (lbs)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Rated horsepower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Footprint (sq ft)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Hybrid powertrain (0/1)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34440"/>
          <a:ext cx="5577840" cy="21336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mass to accelerate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bigger engine, richer fueling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frontal area and rolling drag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braking, engine right-sizing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39319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all four reject zero, signs as above, and together they explain the majority of MPG variation across the fleet.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excluded from this model: MPGe is a different physical quantity (a separate BEV model appears on the robustness slide).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EPA's own compliance filings, MY2024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675120" cy="153619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MPG (DV)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(lbs)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1,025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model types — every configuration manufacturers legally filed for model year 2024
</a:t>
            </a: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205:1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per estimated parameter (course rule of thumb: 10:1)
</a:t>
            </a: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rate between the fuel-economy and footprint files on (manufacturer, division, carline)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20624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Provenance: every raw file, URL, and checksum is logged (DATA_SOURCES.md); the pipeline is 28 idempotent scripts; rerunning any stage reproduces identical outputs.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Fuel Economy &amp; Technology data + Footprint data (epa.gov/automotive-trends); joined in outputs/my2024_config.csv.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 visible before any model is fit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9_footprint_vs_mpg_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vehicles cluster low, small hybrids high — and the production volume (dot size) sits with the trucks. The regression's job is to separate size, power, and powertrain, which move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the model: multiplicative physics, linear estimation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1418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4813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ln(MPG)  =  8.78  −  0.304·ln(weight)  −  0.483·ln(HP)  −  0.0022·footprint  +  0.207·hybrid  +  ε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physics
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burn scales with mass moved and power demanded, so effects multiply rather than add. Taking logs turns the multiplicative law into a straight line OLS can estimate.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434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coefficients
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log-log form each coefficient is an elasticity: a 1% change in the predictor moves MPG by that many percent. The hybrid dummy exponentiates to a percent premium.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6676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36676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uncertainty
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squares, with HC1 heteroskedasticity-robust standard errors: variance differs across vehicle classes, so robust errors keep the p-values honest.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in 19_final_model.py; full table in reports/19_final_model.md. Alternative specifications on the robustness slide.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every predictor significant, R² = 0.846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241401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 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371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0.846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240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 0.845 — the four predictors explain 85% of ln(MPG) variance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1,401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60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F(4, 1020), p &lt; 10⁻¹⁵; VIF ≤ 3.4 = mild, manageable collinearity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HC1 robust SEs, n = 1,025. Footprint's small coefficient reflects size traveling with weight; dropping it changes nothing (slide 11).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R² = 0.846 looks like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1_predict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51560"/>
            <a:ext cx="635222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coefficients: the price of power and mass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a 10% horsepower increase — the steepest lever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10% more weight, holding power and size fixed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fuel-economy premium of a hybrid powertrain at identical weight, power, size</a:t>
            </a:r>
            <a:endParaRPr lang="en-US" sz="1300" dirty="0"/>
          </a:p>
        </p:txBody>
      </p:sp>
      <p:pic>
        <p:nvPicPr>
          <p:cNvPr id="9" name="Image 0" descr="C:\Users\Samson\Desktop\Homework\OS3180\Final Project\charts\fig22_allocation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91840"/>
            <a:ext cx="5353665" cy="3017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350654" y="3429000"/>
            <a:ext cx="535366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exchange rate behind the 50-year story. </a:t>
            </a: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Weight-normalized efficiency (ton-MPG) climbed every single year of the 1987–2004 "stagnation" — the gains were spent on 90 extra horsepower and 900 pounds. The elasticities on this slide price that trade: the industry bought acceleration and size with fuel economy, at roughly half a percent of MPG per percent of horsepower.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from the log-log fit. Left: fig22 — ton-MPG changepoint analysis, +0.25/yr through the MPG trough (validation A).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survives every specification we threw at it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412480" cy="294436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Main: log-log, four predictors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DV (MPG, not ln)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footprint (collinear term)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2020+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 companion: MPGe on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MY2024, true BEVs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5440" y="1463040"/>
            <a:ext cx="2468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inside the table:
</a:t>
            </a: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2020+ R² dips because engine downsizing compressed displacement variance — the fleet homogenized, not the physics.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efficiency obeys the same mass law: weight elasticity −0.97, nearly unit-elastic.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reports/19_final_model.md and era fits (SHORTSTORY.md §3). Different datasets, DV bases, and eras; conclusions unchanged.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 matters: MPG is a cash-flow forecast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6_pric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184571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years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alone repay the $6,477 EV purchase premium ($1,456 saved per year)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5661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volatility story: </a:t>
            </a: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price observed 2011–2026, the gasoline driver's annual bill swings $1,394; the BEV driver's swings $370. The efficient vehicle is also the price-shock insurance.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fig36 (price-shock exposure); premium from KBB July 2026 ATPs (fig37); savings from fig33 cost-per-mile at 2024 prices.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Cross-sectional, one model year.  </a:t>
            </a: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describe the 2024 fleet, not a causal redesign experiment on any single vehicle.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4231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MPG, not window sticker.  </a:t>
            </a: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DV is the unadjusted 2-cycle test — a consistent basis, but it runs ~31% above real-world driving by 2024 (chart at right).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04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collinearity.  </a:t>
            </a: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travels with weight (VIF 3.4), so footprint's own coefficient is small once weight is controlled; dropping it changes nothing.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617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modeled separately.  </a:t>
            </a: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MPGe is a different physical quantity; the BEV companion model (R² 0.708, n = 153) covers it rather than mixing units.</a:t>
            </a:r>
            <a:endParaRPr lang="en-US" sz="1450" dirty="0"/>
          </a:p>
        </p:txBody>
      </p:sp>
      <p:pic>
        <p:nvPicPr>
          <p:cNvPr id="7" name="Image 0" descr="C:\Users\Samson\Desktop\Homework\OS3180\Final Project\charts\fig7_lab_vs_r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463040"/>
            <a:ext cx="4434840" cy="24996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lab-vs-road gap, 1975–2024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limitations sections: reports/19_final_model.md and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vehicle, predict the wallet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the four-variable MPG equation on 1,025 MY2024 vehicles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per +10% horsepower — the design exchange rate behind 50 years of trends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yrs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energy-cost payback of the current EV purchase premium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this equation unlocks:
</a:t>
            </a: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→  MPG  →  cost per mile  →  what consumers buy  →  the national fleet's fuel economy.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MPG is predictable from design, fleet efficiency and consumer fuel spending become predictable from the sales mix — the truck takeover, the hybrid climb, and the EV transition all become forecastable dollar flows.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full pipeline, sources, and 41 supporting figures available (DATA_SOURCES.md, SHORTSTORY.md)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eras were found by algorithm, not by eye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6_change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BIC-selected piecewise-linear breaks land at 1983, 2003, and 2013, each significant by Chow test (F = 13.7, 6.1, 3.5). The three-act story on slide 3 is a model-selection result, not an annotation choice.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SSE search over break locations, order by BIC;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our own story: gas prices explain almost none of the mix shift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9_correlation_that_was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overlay chart everyone believes: cheap gas killed the sedan. The regression: levels r-squared 0.007, differenced 0.003. Truck share is a monotone trend, gas price oscillates; the co-movement is visual, not statistical. Same audit later killed the cheap-credit story (levels 0.57, differenced not significant).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1976-2024 annual, real gas price vs truck production share; reports/10_statistics.md section 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systematically choose better MPG than the catalog median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7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3953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vs production-weighted MPG distributions, MY2024: KS D = 0.211, a 3.5-MPG median shift in the efficient direction, Wasserstein distance 3.06 MPG. And production is concentrated: Gini 0.731, with 23% of carlines carrying 80% of volume.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MY2024 combustion model types; weighted ECDFs and Lorenz curve; reports/10_statistics.md section 2.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history: the era when electric meant expensive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1_msrp_by_powert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Trim-level MSRPs, 2015-2020 (17.5k trims): hybrids were the budget powertrain at $24-39k, gasoline drifted $35-40k, the hydrogen Mirai sat at $58.5k, and the BEV median swung $29-60k on a catalog of 11-31 trims a year. Pairs with the July 2026 transaction picture: the EV premium has compressed to $6,477.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 sample data feed, powertrain classified via fueleconomy.gov join (80.1%); reports/28_msrp.md.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on electrons has cost half as much for a decade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33_cost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energy cost per mile at each year's national prices: BEV around 5-7 cents, gasoline 10-19 cents. 2024 gap: $1,007 vs $2,463 per 15,000 miles. The gap narrows late as electricity prices climb and gas cars improve; the price-shock exposure chart (slide 12) is the companion.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fueleconomy.gov catalog x BLS prices via FRED; reports/23_powertrain.md.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design constant and the trend says ~44 MPG by 2045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2_productivity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Re-express each year's fleet MPG at constant 2024 weight and horsepower using this deck's own elasticities: the 1987-2004 trough vanishes and technology productivity grows +1.94%/yr for fifty years (R-squared 0.984). Projected forward: about 35 by 2035 and 40-44 by 2045, bracketed by the 50-year and 2005+ rates. Caveats: 2024 elasticities assumed stable; EV mix folded in; log-linear extrapolation with no physics ceiling.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outputs/productivity.csv, reports/29_productivity.md; band = slope 95% CI, scenario uncertainty dominates.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2913</Words>
  <Application>Microsoft Office PowerPoint</Application>
  <PresentationFormat>Widescreen</PresentationFormat>
  <Paragraphs>241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CHERWONIK, SAMUEL A CIV USAF HAF SAF</cp:lastModifiedBy>
  <cp:revision>2</cp:revision>
  <dcterms:created xsi:type="dcterms:W3CDTF">2026-09-10T19:25:59Z</dcterms:created>
  <dcterms:modified xsi:type="dcterms:W3CDTF">2026-09-10T19:30:11Z</dcterms:modified>
</cp:coreProperties>
</file>