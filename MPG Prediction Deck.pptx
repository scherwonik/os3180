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BLUF: a log-log OLS model on EPA MY2024 compliance data predicts fuel economy with R-squared 0.846 from just four design variables. Today: where the data comes from, how the equation is derived, what it says, and what it unlocks.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with money, not units: a gas car costs about $2,500 a year to fuel, an EV about $1,000. Purchase price averages near $50k. MPG is the design lever behind the fuel line. Research question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Thirty seconds of history: rise, 17-year trough, modern climb. The trough is where efficiency went into horsepower and pounds; the regression quantifies that exchange rate. Changepoint detection found these eras algorithmically at 1983, 2003, 2013.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 the terminology right out loud: MPG is the dependent variable; the four design measures are the independent variables. Signs predicted before fitting. EVs are excluded because MPGe measures a different quantity; they get their own model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 survey and not scraped: these are compliance filings. One row per model type. Deduplicated production volumes; the two files join perfectly at carline level. Chain of custody is checksummed.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Raw scatter first, model second. Footprint vs unadjusted MPG, dot area = production. The pattern is obvious; the point of regression is to disentangle correlated causes and put confidence bounds on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equation, verbatim. Why logs: physics is multiplicative. Why elasticities: comparable, unit-free effect sizes. Why HC1: a Fiat and an F-350 do not share error variance. This is the slide to slow down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four predictors reject zero; three at p under 0.001. R-squared 0.846, adjusted essentially identical — no overfitting with 205 observations per parameter. VIF maxes at 3.4: collinearity present (size travels with weight) but far from destabilizing.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Predicted against actual, one dot per model type, 45-degree line is perfection. Typical miss is a few MPG. Ask the room: guess a random 2024 vehicle's MPG knowing only weight, horsepower, footprint, and hybrid status — this is how close you 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Elasticities in words. Power is the steepest lever; hybridization is worth 23% at constant everything else — that ranks the design menu: hybridize before lightweighting. The fig22 tie-back: engineering never stalled, allocation did, and these coefficients are the price sheet for that allocation.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story in six specifications across two datasets and two DV definitions. The era comparison is itself informative: the model weakens after 2020 because everything became a two-liter turbo — homogenization, not physics failure. The BEV companion model shows electric efficiency is nearly unit-elastic in weight.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loop to consumers: predicted MPG converts directly to dollars per year. Payback arithmetic: $6,477 premium over $1,456 annual savings is about 4.5 years, energy only. The bar chart: efficiency also buys stability — the BEV's worst observed year beats gasoline's best.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honest limitations. The lab-vs-road chart earns its place: predictions are of the consistent lab measure; translating to driver experience needs the 31% haircut. Association not causation for any single redesign.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three numbers, then the forward thesis: prediction turns design menus and sales mixes into dollar forecasts. Leave 2-3 minutes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if asked how the eras on slide 3 were chosen: exhaustive changepoint search, BIC model order, Chow tests at the chosen breaks.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for any causal question about gas prices or interest rates driving buying patterns: we tested both, both fail the differenced audit. Event study rescued exactly one episode, 1979.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for consumer-behavior questions: demand tilts toward efficiency relative to the catalog, and volume concentrates hard.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for price-history questions. Emphasize MSRP vs ATP distinction: asking price vs price paid.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for fuel-cost trend questions. Energy only; excludes purchase, depreciation, DC-fast premiums; PHEV and diesel excluded with reasons.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forward-looking backup: normalization built from our own regression coefficients. Lead with the vanished trough, then the projection, then the caveats in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for 'does this hold within classes?' The law is class-universal; level differs, rate barely does. Sets up the EV-mix explanation on the following backups.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for 'do EVs improve faster?' Same rate band as combustion once weight-normalized. Caveats: one manufacturer, 13 points, no HP term in the BEV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for 'isn't your projection just EVs?' No: combustion alone runs 1.9%/yr. The fig42-minus-fig45 gap quantifies electrification's contribution.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for 'what is that spike?' and 'is 2024 incomplete?' Spike = Model Y mix; 2024 = final data; dip = credit-hangover mix shift. The decomposition table is in the stage-31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MPG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9D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numbers explain 85% of a vehicle's fuel economy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 ·  horsepower  ·  footprint  ·  hybrid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3810 Probability &amp; Statistics — Final Project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EPA Model Year 2024 compliance data, 1,025 vehicles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economy is a household expense, not an abstraction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4630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$2,463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3317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energy cost of the median gasoline vehicle (15,000 miles, 2024 prices)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343400" y="14630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$1,007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343400" y="23317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year of driving in the median battery-electric vehicle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183880" y="14630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$49,855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183880" y="23317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price actually paid for a new vehicle, July 2026 (KBB)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7490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MPG is the lever connecting vehicle design to what drivers spend. If MPG can be predicted from design, consumer cost can be predicted from the sales mix.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754880"/>
            <a:ext cx="11155680" cy="1371600"/>
          </a:xfrm>
          <a:prstGeom prst="roundRect">
            <a:avLst>
              <a:gd name="adj" fmla="val 5333"/>
            </a:avLst>
          </a:prstGeom>
          <a:solidFill>
            <a:srgbClr val="F0EFE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49834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question:  </a:t>
            </a:r>
            <a:pPr indent="0" marL="0"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physical design variables predict a vehicle's fuel economy, and how well?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Costs: fueleconomy.gov catalog efficiency x BLS national prices (reports/23_powertrain.md). ATP: Kelley Blue Book / Cox Automotive, July 2026.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Fifty years of fuel economy: three acts</a:t>
            </a:r>
            <a:endParaRPr lang="en-US" sz="3000" dirty="0"/>
          </a:p>
        </p:txBody>
      </p:sp>
      <p:pic>
        <p:nvPicPr>
          <p:cNvPr id="3" name="Image 0" descr="C:\Users\Samson\Desktop\Homework\OS3180\Final Project\charts\fig1_three_ac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43000"/>
            <a:ext cx="5582412" cy="5074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0" y="1371600"/>
            <a:ext cx="34747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1975–1987: 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13.1 to 22.0 MPG under new CAFE standards
</a:t>
            </a:r>
            <a:pPr indent="0" marL="0">
              <a:buNone/>
            </a:pPr>
            <a:r>
              <a:rPr lang="en-US" sz="1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1987–2004: 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MPG falls to 19.3 while horsepower nearly doubles and weight regains 900 lbs
</a:t>
            </a:r>
            <a:pPr indent="0" marL="0">
              <a:buNone/>
            </a:pPr>
            <a:r>
              <a:rPr lang="en-US" sz="14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2004–2024: 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27.2 MPG: technology finally moves economy, power, and size together
</a:t>
            </a:r>
            <a:pPr indent="0" marL="0">
              <a:buNone/>
            </a:pPr>
            <a:r>
              <a:rPr lang="en-US" sz="1400" i="1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trough is the point: the industry traded efficiency for weight and power. Our equation prices exactly that trade.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EPA Automotive Trends, production-weighted. Chart: fig1; era breaks confirmed by BIC changepoint search (fig16).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dependent variable, four independent variables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E6EFF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 (y):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MPG — EPA unadjusted 2-cycle, one row per MY2024 combustion model type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2834640"/>
            <a:ext cx="5212080" cy="2651760"/>
          </a:xfrm>
          <a:prstGeom prst="roundRect">
            <a:avLst>
              <a:gd name="adj" fmla="val 2759"/>
            </a:avLst>
          </a:prstGeom>
          <a:solidFill>
            <a:srgbClr val="F0EF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3063240"/>
            <a:ext cx="4663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(x):
</a:t>
            </a:r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Inertia weight (lbs)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Rated horsepower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Footprint (sq ft)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Hybrid powertrain (0/1)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234440"/>
          <a:ext cx="55778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188720"/>
                <a:gridCol w="28346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sign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Physical reason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ln(weight)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mass to accelerate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ln(horsepower)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bigger engine, richer fueling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footprint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frontal area and rolling drag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regenerative braking, engine right-sizing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126480" y="393192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all four reject zero, signs as above, and together they explain the majority of MPG variation across the fleet.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EVs excluded from this model: MPGe is a different physical quantity (a separate BEV model appears on the robustness slide).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the EPA's own compliance filings, MY2024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675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371600"/>
                <a:gridCol w="137160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MPG (DV)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 (lbs)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Horsepower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Footprint (sq ft)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498080" y="1280160"/>
            <a:ext cx="4206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1,025 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combustion model types — every configuration manufacturers legally filed for model year 2024
</a:t>
            </a:r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205:1 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per estimated parameter (course rule of thumb: 10:1)
</a:t>
            </a:r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rate between the fuel-economy and footprint files on (manufacturer, division, carline)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20624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Provenance: every raw file, URL, and checksum is logged (DATA_SOURCES.md); the pipeline is 28 idempotent scripts; rerunning any stage reproduces identical outputs.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EPA Model Year 2024 Fuel Economy &amp; Technology data + Footprint data (epa.gov/automotive-trends); joined in outputs/my2024_config.csv.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relationship is visible before any model is fit</a:t>
            </a:r>
            <a:endParaRPr lang="en-US" sz="3000" dirty="0"/>
          </a:p>
        </p:txBody>
      </p:sp>
      <p:pic>
        <p:nvPicPr>
          <p:cNvPr id="3" name="Image 0" descr="C:\Users\Samson\Desktop\Homework\OS3180\Final Project\charts\fig9_footprint_vs_mpg_20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188720"/>
            <a:ext cx="8382000" cy="5029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62636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vehicles cluster low, small hybrids high — and the production volume (dot size) sits with the trucks. The regression's job is to separate size, power, and powertrain, which move together.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Deriving the model: multiplicative physics, linear estimation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280160"/>
            <a:ext cx="11155680" cy="1188720"/>
          </a:xfrm>
          <a:prstGeom prst="roundRect">
            <a:avLst>
              <a:gd name="adj" fmla="val 6154"/>
            </a:avLst>
          </a:prstGeom>
          <a:solidFill>
            <a:srgbClr val="1418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48132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ln(MPG)  =  8.78  −  0.304·ln(weight)  −  0.483·ln(HP)  −  0.0022·footprint  +  0.207·hybrid  +  ε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02920" y="283464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42900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Multiplicative physics
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burn scales with mass moved and power demanded, so effects multiply rather than add. Taking logs turns the multiplicative law into a straight line OLS can estimate.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283464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3484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342900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Elasticity coefficients
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log-log form each coefficient is an elasticity: a 1% change in the predictor moves MPG by that many percent. The hybrid dummy exponentiates to a percent premium.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366760" y="283464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6676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342900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uncertainty
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Ordinary least squares, with HC1 heteroskedasticity-robust standard errors: variance differs across vehicle classes, so robust errors keep the p-values honest.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in 19_final_model.py; full table in reports/19_final_model.md. Alternative specifications on the robustness slide.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every predictor significant, R² = 0.846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34440"/>
                <a:gridCol w="960120"/>
                <a:gridCol w="868680"/>
                <a:gridCol w="1051560"/>
                <a:gridCol w="10972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Coefficient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HC1 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intercept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ln(weight)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ln(horsepower)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−43.0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footprint (sq ft)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55280" y="137160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0.846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22402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adjusted R² 0.845 — the four predictors explain 85% of ln(MPG) variance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955280" y="329184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1,401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416052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F(4, 1020), p &lt; 10⁻¹⁵; VIF ≤ 3.4 = mild, manageable collinearity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 with HC1 robust SEs, n = 1,025. Footprint's small coefficient reflects size traveling with weight; dropping it changes nothing (slide 11).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R² = 0.846 looks like</a:t>
            </a:r>
            <a:endParaRPr lang="en-US" sz="3000" dirty="0"/>
          </a:p>
        </p:txBody>
      </p:sp>
      <p:pic>
        <p:nvPicPr>
          <p:cNvPr id="3" name="Image 0" descr="C:\Users\Samson\Desktop\Homework\OS3180\Final Project\charts\fig31_predicted_vs_actu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0" y="1051560"/>
            <a:ext cx="6352223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coefficients: the price of power and mass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−4.8%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1945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MPG cost of a 10% horsepower increase — the steepest lever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343400" y="13258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−3.0%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343400" y="21945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MPG cost of 10% more weight, holding power and size fixed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183880" y="13258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+23%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183880" y="21945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fuel-economy premium of a hybrid powertrain at identical weight, power, size</a:t>
            </a:r>
            <a:endParaRPr lang="en-US" sz="1300" dirty="0"/>
          </a:p>
        </p:txBody>
      </p:sp>
      <p:pic>
        <p:nvPicPr>
          <p:cNvPr id="9" name="Image 0" descr="C:\Users\Samson\Desktop\Homework\OS3180\Final Project\charts\fig22_allocation_proo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0"/>
            <a:ext cx="5353665" cy="30175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0" y="3429000"/>
            <a:ext cx="6035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exchange rate behind the 50-year story.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Weight-normalized efficiency (ton-MPG) climbed every single year of the 1987–2004 "stagnation" — the gains were spent on 90 extra horsepower and 900 pounds. The elasticities on this slide price that trade: the industry bought acceleration and size with fuel economy, at roughly half a percent of MPG per percent of horsepower.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Elasticities from the log-log fit. Left: fig22 — ton-MPG changepoint analysis, +0.25/yr through the MPG trough (validation A).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relationship survives every specification we threw at it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4124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651760"/>
                <a:gridCol w="1005840"/>
                <a:gridCol w="146304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Main: log-log, four predictors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EPA MY2024 compliance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DV (MPG, not ln)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EPA MY2024 compliance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 footprint (collinear term)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EPA MY2024 compliance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 model, years 2000+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fueleconomy.gov catalog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 model, years 2020+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fueleconomy.gov catalog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BEV companion: MPGe on weight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EPA MY2024, true BEVs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235440" y="1463040"/>
            <a:ext cx="2468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findings inside the table:
</a:t>
            </a:r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2020+ R² dips because engine downsizing compressed displacement variance — the fleet homogenized, not the physics.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 efficiency obeys the same mass law: weight elasticity −0.97, nearly unit-elastic.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reports/19_final_model.md and era fits (SHORTSTORY.md §3). Different datasets, DV bases, and eras; conclusions unchanged.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prediction matters: MPG is a cash-flow forecast</a:t>
            </a:r>
            <a:endParaRPr lang="en-US" sz="3000" dirty="0"/>
          </a:p>
        </p:txBody>
      </p:sp>
      <p:pic>
        <p:nvPicPr>
          <p:cNvPr id="3" name="Image 0" descr="C:\Users\Samson\Desktop\Homework\OS3180\Final Project\charts\fig36_price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7184571" cy="3657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92440" y="137160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 years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8092440" y="224028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savings alone repay the $6,477 EV purchase premium ($1,456 saved per year)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356616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volatility story: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every price observed 2011–2026, the gasoline driver's annual bill swings $1,394; the BEV driver's swings $370. The efficient vehicle is also the price-shock insurance.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fig36 (price-shock exposure); premium from KBB July 2026 ATPs (fig37); savings from fig33 cost-per-mile at 2024 prices.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Limitations, stated plainly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Cross-sectional, one model year.  </a:t>
            </a:r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Elasticities describe the 2024 fleet, not a causal redesign experiment on any single vehicle.</a:t>
            </a:r>
            <a:endParaRPr lang="en-US" sz="14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42316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MPG, not window sticker.  </a:t>
            </a:r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DV is the unadjusted 2-cycle test — a consistent basis, but it runs ~31% above real-world driving by 2024 (chart at right).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352044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collinearity.  </a:t>
            </a:r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travels with weight (VIF 3.4), so footprint's own coefficient is small once weight is controlled; dropping it changes nothing.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461772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EVs modeled separately.  </a:t>
            </a:r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MPGe is a different physical quantity; the BEV companion model (R² 0.708, n = 153) covers it rather than mixing units.</a:t>
            </a:r>
            <a:endParaRPr lang="en-US" sz="1450" dirty="0"/>
          </a:p>
        </p:txBody>
      </p:sp>
      <p:pic>
        <p:nvPicPr>
          <p:cNvPr id="7" name="Image 0" descr="C:\Users\Samson\Desktop\Homework\OS3180\Final Project\charts\fig7_lab_vs_ro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463040"/>
            <a:ext cx="4434840" cy="249963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223760" y="42062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lab-vs-road gap, 1975–2024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limitations sections: reports/19_final_model.md and reports/10_statistics.md.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8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vehicle, predict the wallet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D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0.846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060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of the four-variable MPG equation on 1,025 MY2024 vehicles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8288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D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−4.8%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26060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MPG per +10% horsepower — the design exchange rate behind 50 years of trends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412480" y="18288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D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 yrs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412480" y="26060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energy-cost payback of the current EV purchase premium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931920"/>
            <a:ext cx="10698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chain this equation unlocks:
</a:t>
            </a:r>
            <a:pPr indent="0" marL="0">
              <a:buNone/>
            </a:pPr>
            <a:r>
              <a:rPr lang="en-US" sz="1600" dirty="0">
                <a:solidFill>
                  <a:srgbClr val="C7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 →  MPG  →  cost per mile  →  what consumers buy  →  the national fleet's fuel economy.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7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MPG is predictable from design, fleet efficiency and consumer fuel spending become predictable from the sales mix — the truck takeover, the hybrid climb, and the EV transition all become forecastable dollar flows.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— full pipeline, sources, and 41 supporting figures available (DATA_SOURCES.md, SHORTSTORY.md)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 </a:t>
            </a:r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eras were found by algorithm, not by eye</a:t>
            </a:r>
            <a:endParaRPr lang="en-US" sz="1300" dirty="0"/>
          </a:p>
        </p:txBody>
      </p:sp>
      <p:pic>
        <p:nvPicPr>
          <p:cNvPr id="3" name="Image 0" descr="C:\Users\Samson\Desktop\Homework\OS3180\Final Project\charts\fig16_changepo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7498080" cy="436251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1040" y="1463040"/>
            <a:ext cx="3337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BIC-selected piecewise-linear breaks land at 1983, 2003, and 2013, each significant by Chow test (F = 13.7, 6.1, 3.5). The three-act story on slide 3 is a model-selection result, not an annotation choice.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Exhaustive SSE search over break locations, order by BIC; reports/10_statistics.md.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 </a:t>
            </a:r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audited our own story: gas prices explain almost none of the mix shift</a:t>
            </a:r>
            <a:endParaRPr lang="en-US" sz="1300" dirty="0"/>
          </a:p>
        </p:txBody>
      </p:sp>
      <p:pic>
        <p:nvPicPr>
          <p:cNvPr id="3" name="Image 0" descr="C:\Users\Samson\Desktop\Homework\OS3180\Final Project\charts\fig19_correlation_that_was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7498080" cy="436251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1040" y="1463040"/>
            <a:ext cx="3337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overlay chart everyone believes: cheap gas killed the sedan. The regression: levels r-squared 0.007, differenced 0.003. Truck share is a monotone trend, gas price oscillates; the co-movement is visual, not statistical. Same audit later killed the cheap-credit story (levels 0.57, differenced not significant).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1976-2024 annual, real gas price vs truck production share; reports/10_statistics.md section 4.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 </a:t>
            </a:r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systematically choose better MPG than the catalog median</a:t>
            </a:r>
            <a:endParaRPr lang="en-US" sz="1300" dirty="0"/>
          </a:p>
        </p:txBody>
      </p:sp>
      <p:pic>
        <p:nvPicPr>
          <p:cNvPr id="3" name="Image 0" descr="C:\Users\Samson\Desktop\Homework\OS3180\Final Project\charts\fig17_distribution_shi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7498080" cy="395353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1040" y="1463040"/>
            <a:ext cx="3337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Offered vs production-weighted MPG distributions, MY2024: KS D = 0.211, a 3.5-MPG median shift in the efficient direction, Wasserstein distance 3.06 MPG. And production is concentrated: Gini 0.731, with 23% of carlines carrying 80% of volume.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MY2024 combustion model types; weighted ECDFs and Lorenz curve; reports/10_statistics.md section 2.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 </a:t>
            </a:r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Sticker history: the era when electric meant expensive</a:t>
            </a:r>
            <a:endParaRPr lang="en-US" sz="1300" dirty="0"/>
          </a:p>
        </p:txBody>
      </p:sp>
      <p:pic>
        <p:nvPicPr>
          <p:cNvPr id="3" name="Image 0" descr="C:\Users\Samson\Desktop\Homework\OS3180\Final Project\charts\fig41_msrp_by_powert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7498080" cy="436251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1040" y="1463040"/>
            <a:ext cx="3337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Trim-level MSRPs, 2015-2020 (17.5k trims): hybrids were the budget powertrain at $24-39k, gasoline drifted $35-40k, the hydrogen Mirai sat at $58.5k, and the BEV median swung $29-60k on a catalog of 11-31 trims a year. Pairs with the July 2026 transaction picture: the EV premium has compressed to $6,477.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CarAPI sample data feed, powertrain classified via fueleconomy.gov join (80.1%); reports/28_msrp.md.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 </a:t>
            </a:r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on electrons has cost half as much for a decade</a:t>
            </a:r>
            <a:endParaRPr lang="en-US" sz="1300" dirty="0"/>
          </a:p>
        </p:txBody>
      </p:sp>
      <p:pic>
        <p:nvPicPr>
          <p:cNvPr id="3" name="Image 0" descr="C:\Users\Samson\Desktop\Homework\OS3180\Final Project\charts\fig33_cost_tren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7498080" cy="436251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1040" y="1463040"/>
            <a:ext cx="3337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energy cost per mile at each year's national prices: BEV around 5-7 cents, gasoline 10-19 cents. 2024 gap: $1,007 vs $2,463 per 15,000 miles. The gap narrows late as electricity prices climb and gas cars improve; the price-shock exposure chart (slide 12) is the companion.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fueleconomy.gov catalog x BLS prices via FRED; reports/23_powertrain.md.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 </a:t>
            </a:r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design constant and the trend says ~44 MPG by 2045</a:t>
            </a:r>
            <a:endParaRPr lang="en-US" sz="1300" dirty="0"/>
          </a:p>
        </p:txBody>
      </p:sp>
      <p:pic>
        <p:nvPicPr>
          <p:cNvPr id="3" name="Image 0" descr="C:\Users\Samson\Desktop\Homework\OS3180\Final Project\charts\fig42_productivity_proj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7498080" cy="436251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1040" y="1463040"/>
            <a:ext cx="3337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Re-express each year's fleet MPG at constant 2024 weight and horsepower using this deck's own elasticities: the 1987-2004 trough vanishes and technology productivity grows +1.94%/yr for fifty years (R-squared 0.984). Projected forward: about 35 by 2035 and 40-44 by 2045, bracketed by the 50-year and 2005+ rates. Caveats: 2024 elasticities assumed stable; EV mix folded in; log-linear extrapolation with no physics ceiling.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outputs/productivity.csv, reports/29_productivity.md; band = slope 95% CI, scenario uncertainty dominates.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 </a:t>
            </a:r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by class, the productivity law is universal</a:t>
            </a:r>
            <a:endParaRPr lang="en-US" sz="1300" dirty="0"/>
          </a:p>
        </p:txBody>
      </p:sp>
      <p:pic>
        <p:nvPicPr>
          <p:cNvPr id="3" name="Image 0" descr="C:\Users\Samson\Desktop\Homework\OS3180\Final Project\charts\fig43_class_produc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7395882" cy="4572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18842" y="1463040"/>
            <a:ext cx="3439758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vehicle class, held at its own constant 2024 weight and horsepower, improves a steady 2.0-2.6% per year with log-linear R-squared 0.93-0.99. Classes differ in level (a pickup's physics), barely in rate. Car SUV runs hottest; the next slide explains why.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EPA Trends by vehicle type; no coupe class exists in Trends (two-doors fold into Sedan/Wagon). reports/30_class_productivity.md.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 </a:t>
            </a:r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EVs ride the same productivity clock</a:t>
            </a:r>
            <a:endParaRPr lang="en-US" sz="1300" dirty="0"/>
          </a:p>
        </p:txBody>
      </p:sp>
      <p:pic>
        <p:nvPicPr>
          <p:cNvPr id="3" name="Image 0" descr="C:\Users\Samson\Desktop\Homework\OS3180\Final Project\charts\fig44_ev_produc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7498080" cy="436251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1040" y="1463040"/>
            <a:ext cx="3337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production-weighted EV series with weight (EPA Trends' Tesla rows, 2012-2024), normalized with the BEV model's own -0.975 weight elasticity: +2.36% per year, inside the same 2.0-2.6% band as every combustion class. One clock, two energy carriers.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Tesla as EV proxy, 13 annual points, model-mix shifts included. reports/30_class_productivity.md.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 </a:t>
            </a:r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Combustion alone kept the clock: no BEVs required</a:t>
            </a:r>
            <a:endParaRPr lang="en-US" sz="1300" dirty="0"/>
          </a:p>
        </p:txBody>
      </p:sp>
      <p:pic>
        <p:nvPicPr>
          <p:cNvPr id="3" name="Image 0" descr="C:\Users\Samson\Desktop\Homework\OS3180\Final Project\charts\fig45_ice_produc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7498080" cy="436251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1040" y="1463040"/>
            <a:ext cx="3337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the BEV share out of the fleet aggregates (harmonically for MPG, arithmetically for weight and HP, Tesla series as proxy) and combustion still improves +1.86% per year for fifty years (R-squared 0.984), reaching 39 MPG-equivalent by 2045. The gap to the BEV-inclusive projection (~0.4pp/yr, ~5 MPG by 2045) IS electrification's measured contribution.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31; hybrids remain included; fleet BEV share &lt;= 7.2% so proxy error is second-order. reports/31_ice_productivity.md.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 </a:t>
            </a:r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2023 Car SUV spike was the Model Y, and it vanishes ex-BEV</a:t>
            </a:r>
            <a:endParaRPr lang="en-US" sz="1300" dirty="0"/>
          </a:p>
        </p:txBody>
      </p:sp>
      <p:pic>
        <p:nvPicPr>
          <p:cNvPr id="3" name="Image 0" descr="C:\Users\Samson\Desktop\Homework\OS3180\Final Project\charts\fig46_ice_class_produc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7395882" cy="4572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18842" y="1463040"/>
            <a:ext cx="3439758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In-class BEV share went 0.6% (2019) to 35.7% (2023) as Trends classes the Model Y as a Car SUV; remove it and the spike is gone, with all classes converging to 1.9-2.2% per year. The 2024 endpoint wiggle is also mix, not missing data: 2024 is final (2025 is the preliminary year, excluded); the sedan dip disappears ex-BEV, and the residual Car SUV dip is a lighter, less powerful 2024 ICE fleet plus first-order Tesla-proxy sensitivity at the 35.7% point.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reports/31_ice_productivity.md incl. the endpoint decomposition.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2026-09-10T19:52:26Z</dcterms:created>
  <dcterms:modified xsi:type="dcterms:W3CDTF">2026-09-10T19:52:26Z</dcterms:modified>
</cp:coreProperties>
</file>