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Arc: what fuel costs households, the equation that predicts MPG, why raw MPG misleads (design drift), the normalized productivity law, classes, buyers, EVs, and the 2045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money. A gas car burns ~$2,500 a year, an EV ~$1,000, and the average new vehicle costs $50k. MPG is the design lever behind the fuel line. Research question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MPG is the dependent variable; the four design measures are independent. Signs predicted before 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 filings, not surveys. One row per model type; perfect join at carline level; checksummed chain of custody.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scatter first, model second. The pattern is obvious; regression disentangles correlated causes and bounds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equation, verbatim. Why logs, why elasticities, why HC1. Slow 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reject zero. R-squared 0.846, adjusted identical. VIF max 3.4: collinearity present but tame.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Predicted vs actual, one dot per model type. Typical miss is a few MPG from four numbers on a spec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slide: raw MPG is a design-confounded series. Weight bought safety (3x fewer deaths per mile), power bought acceleration. Motivates normalization using our own elasticities.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Elasticities in words; hybridize before lightweighting. Ton-MPG is the crude version of the normalization; the next slide does it properly with both elasticities.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of the equation beyond prediction: it is a measuring instrument. Normalized, combustion productivity is a 50-year straight line in log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law per class. Pre-empt the spike question here by naming it; full decomposition sits in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Predicted MPG converts to dollars per year; payback arithmetic; the worst BEV year beats the best gasoline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EVs get their own beat: automakers offer three times faster than Americans buy; adoption is visibly policy-elastic (2023 surge, 2024 hangover). Ties to beat 6: the cost advantage is the engine, incentives the throttle.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view of technology: same functional form, different clocks. Say 'believe the dashes least' about BEV.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plane: projection with and without electrification, the gap as the consumer-choice term. The chain sentence is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limitations, now covering the normalization and projection too. Volunteer the elasticity-stability assumption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numbers, the chain, questions. Backups stand ready: robustness, changepoints, audits, distributions, prices, the EV clock, the spike decomposition.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any 'does it generalize?'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if asked how the eras were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causal questions about gas prices or interest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consumer-behavior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price-history questions; MSRP vs ATP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fuel-cost trend questions; energy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'do EVs improve faster?'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'what is that spike?' and 'is 2024 incomplete?'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MPG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fuel bills to a four-variable equation to the 2045 fleet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·  horsepower  ·  footprint  ·  hybrid    —    R² = 0.846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3810 Probability &amp; Statistics — Final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Model Year 2024 compliance data, 1,025 vehicles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is a four-figure annual bill, and MPG sets it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$2,463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331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cost of the median gasoline vehicle (15,000 miles, 2024 prices)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$1,007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331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 of driving in the median battery-electric vehicle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$49,855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331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actually paid for a new vehicle, July 2026 (KBB)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49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 is the lever connecting vehicle design to what drivers spend. If MPG can be predicted from design, consumer cost can be predicted from the sales mix.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475488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0EF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983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</a:t>
            </a:r>
            <a:pPr indent="0" marL="0"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physical design variables predict a vehicle's fuel economy, and how well?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Costs: fueleconomy.gov catalog efficiency x BLS national prices (reports/23_powertrain.md). ATP: Kelley Blue Book / Cox Automotive, July 2026.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dependent variable, four independent variables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6EF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(y):  </a:t>
            </a:r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MPG — EPA unadjusted 2-cycle, one row per MY2024 combustion model type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F0EF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0632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(x):
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Inertia weight (lbs)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Rated horsepower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Footprint (sq ft)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Hybrid powertrain (0/1)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3444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ln(weight)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mass to accelerate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ln(horsepower)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engine, richer fueling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frontal area and rolling drag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regenerative braking, engine right-sizing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126480" y="39319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all four reject zero, signs as above, and together they explain the majority of MPG variation across the fleet.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excluded from this model: MPGe is a different physical quantity (a separate BEV model appears in backup).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EPA's own compliance filings, MY2024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MPG (DV)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(lbs)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(sq ft)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98080" y="1280160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1,025 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model types — every configuration manufacturers legally filed for model year 2024
</a:t>
            </a:r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205:1 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per estimated parameter (course rule of thumb: 10:1)
</a:t>
            </a:r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rate between the fuel-economy and footprint files on (manufacturer, division, carline)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2062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every raw file, URL, and checksum is logged (DATA_SOURCES.md); the pipeline is 31 idempotent scripts; rerunning any stage reproduces identical outputs.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Model Year 2024 Fuel Economy &amp; Technology data + Footprint data (epa.gov/automotive-trends); joined in outputs/my2024_config.csv.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visible before any model is fit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9_footprint_vs_mpg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8382000" cy="5029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263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vehicles cluster low, small hybrids high — and the production volume (dot size) sits with the trucks. The regression's job is to separate size, power, and powertrain, which move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model: multiplicative physics, linear estimation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1418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ln(MPG)  =  8.78  −  0.304·ln(weight)  −  0.483·ln(HP)  −  0.0022·footprint  +  0.207·hybrid  +  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290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physics
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burn scales with mass moved and power demanded, so effects multiply rather than add. Taking logs turns the multiplicative law into a straight line OLS can estimate.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83464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4290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coefficients
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log-log form each coefficient is an elasticity: a 1% change in the predictor moves MPG by that many percent. The hybrid dummy exponentiates to a percent premium.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66760" y="283464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34290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uncertainty
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squares, with HC1 heteroskedasticity-robust standard errors: variance differs across vehicle classes, so robust errors keep the p-values honest.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in 19_final_model.py; full table in reports/19_final_model.md. Alternative specifications in backup.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every predictor significant, R² = 0.846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960120"/>
                <a:gridCol w="868680"/>
                <a:gridCol w="105156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HC1 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ln(weight)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ln(horsepower)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(sq ft)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371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0.846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55280" y="2240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 0.845 — the four predictors explain 85% of ln(MPG) variance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3291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1,401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160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F(4, 1020), p &lt; 10⁻¹⁵; VIF ≤ 3.4 = mild, manageable collinearity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with HC1 robust SEs, n = 1,025. Footprint's small coefficient reflects size traveling with weight; dropping it changes nothing (backup).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R² = 0.846 looks like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31_predicted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051560"/>
            <a:ext cx="6352223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MPG stalled because design drifted: safer, heavier, stronger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1_three_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5582412" cy="5074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280160"/>
            <a:ext cx="34747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1987–2004: MPG falls 22.0 → 19.3 while the fleet gains 90 HP and 900 lbs.
</a:t>
            </a:r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weight came from: </a:t>
            </a:r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structures, airbags, and content — deaths per 100M miles fell from 3.35 to ~1.2 over these decades.
</a:t>
            </a:r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power went: </a:t>
            </a:r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bought acceleration — 0-60 halved from 13.4 s to 7.5 s.
</a:t>
            </a:r>
            <a:pPr indent="0" marL="0">
              <a:buNone/>
            </a:pPr>
            <a:r>
              <a:rPr lang="en-US" sz="13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raw MPG confounds technology with taste and regulation. To see technology itself, hold the design constant — the normalization our equation makes possible.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Automotive Trends; fatality rate from BTS Table 2-17 (backup has the full safety chart). Era breaks confirmed by changepoint search (backup).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rate: what power and mass cost in MPG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−4.8%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94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 cost of a 10% horsepower increase — the steepest lever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325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94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 cost of 10% more weight, holding power and size fixed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1325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194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fuel-economy premium of a hybrid powertrain at identical weight, power, size</a:t>
            </a:r>
            <a:endParaRPr lang="en-US" sz="1300" dirty="0"/>
          </a:p>
        </p:txBody>
      </p:sp>
      <p:pic>
        <p:nvPicPr>
          <p:cNvPr id="9" name="Image 0" descr="C:\Users\Samson\Desktop\Homework\OS3180\Final Project\charts\fig22_allocation_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0"/>
            <a:ext cx="5353665" cy="30175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0" y="342900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proof that the trough was allocation, not stagnation: </a:t>
            </a:r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weight-normalized efficiency (ton-MPG) climbed every single year of 1987–2004. The elasticities price the trade: the industry bought acceleration and size with fuel economy at about half a percent of MPG per percent of horsepower.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Elasticities from the log-log fit. Left: fig22 — ton-MPG changepoint analysis (validation A).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design away, and efficiency never stalled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45_ice_produ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7700963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66760" y="1463040"/>
            <a:ext cx="3337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MPG_norm = MPG × (wt/wt₂₀₂₄)^0.304 × (HP/HP₂₀₂₄)^0.483
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year's fleet re-expressed at 2024's weight and power, using our own coefficients — combustion only (BEVs backed out).
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+1.86%/yr for fifty years, R² = 0.984. 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trough vanishes: technology never paused; its gains were spent.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31; hybrids remain; BEV share backed out harmonically via the Tesla proxy (fleet share &lt;= 7.2%). BEV-inclusive version in the projection slide.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law holds in every class of vehicle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43_class_produ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7839635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78240" y="15544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Sedans, SUVs, pickups, minivans — each normalized to its own 2024 design: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2.0–2.6%/yr everywhere, R² 0.93–0.99.
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differ in level (pickup physics), barely in rate. The one outlier — Car SUV's 2023 spike — is the Model Y entering the class at 36% share; it vanishes when BEVs are removed (backup).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Trends by vehicle type; no coupe class exists in Trends (two-doors fold into Sedan/Wagon). reports/30_class_productivity.md.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buyers care: MPG is a cash-flow forecast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36_price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184571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2440" y="1371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years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092440" y="2240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savings alone repay the $6,477 EV purchase premium ($1,456 saved per year)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356616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volatility story: </a:t>
            </a:r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price observed 2011–2026, the gasoline driver's annual bill swings $1,394; the BEV driver's swings $370. The efficient vehicle is also the price-shock insurance.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fig36 (price-shock exposure); premium from KBB July 2026 ATPs (fig37); savings from fig33 cost-per-mile at 2024 prices.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EVs: offered faster than bought, and credit-sensitive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3_ev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7462684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37160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2010:  </a:t>
            </a:r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mass-market EVs delivered (Leaf, Volt)
</a:t>
            </a:r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 </a:t>
            </a:r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Reduction Act revamps the $7,500 credit
</a:t>
            </a:r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 </a:t>
            </a:r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credit-driven surge — BEV share of the Car SUV class hits 35.7%
</a:t>
            </a:r>
            <a:pPr indent="0" marL="0">
              <a:buNone/>
            </a:pPr>
            <a:r>
              <a:rPr lang="en-US" sz="13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 </a:t>
            </a:r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hangover — sedan-class BEV share halves (14.6% → 7.1%)
</a:t>
            </a:r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persists: 21% of the 2024 catalog is electric; 7.2% of production is. </a:t>
            </a:r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interest tracks incentives and energy-cost advantage — which is narrowing (backup).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fig3 (offered vs bought); events from external/events_timeline.csv (dated, cited); mix shares from EPA Trends powertrain columns.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arrives next follows the same S-curve, at different speeds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18_diffusion_f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8307977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78240" y="15544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efficiency technology diffuses on a logistic curve; only the rate constant differs. </a:t>
            </a:r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GDI took over 2.1× faster than turbo.
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open question is BEV: the data cannot yet distinguish an early S-curve from a low plateau — its fitted ceiling carries the widest confidence interval on the page.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fits, ceiling estimated not assumed; bootstrap CIs in reports/10_statistics.md. Dashed = extrapolation.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trend: 40–44 MPG-equivalent by 2045, and the sales mix decides</a:t>
            </a:r>
            <a:endParaRPr lang="en-US" sz="2900" dirty="0"/>
          </a:p>
        </p:txBody>
      </p:sp>
      <p:pic>
        <p:nvPicPr>
          <p:cNvPr id="3" name="Image 0" descr="C:\Users\Samson\Desktop\Homework\OS3180\Final Project\charts\fig42_productivity_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7700963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66760" y="1463040"/>
            <a:ext cx="3337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full-fleet projection (BEVs in): 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by 2045 at the recent rate, 40 at the 50-year rate.
</a:t>
            </a:r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alone delivers 39 </a:t>
            </a:r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(previous slide's series projected) — so ~5 MPG-equivalent of the difference is electrification's contribution, which the sales mix, not the lab, will decide.
</a:t>
            </a:r>
            <a:pPr indent="0" marL="0">
              <a:buNone/>
            </a:pPr>
            <a:r>
              <a:rPr lang="en-US" sz="14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MPG → cost/mile → what consumers buy → fleet fuel economy: with the equation in hand, each link is quantified.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29/31; slope-CI band shown; scenario uncertainty dominates and the two rates bracket, not bound, the future.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stated plainly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elasticities.  </a:t>
            </a:r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on the 2024 fleet, applied across five decades for normalization: a stability assumption, partially supported by era refits (R² 0.71-0.78).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4231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MPG, not window sticker.  </a:t>
            </a:r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DV is the unadjusted 2-cycle test — a consistent basis, but it runs ~31% above real-world driving by 2024 (chart at right).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5204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are trend extrapolations.  </a:t>
            </a:r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Log-linear, no physics ceiling, no policy scenario; the CI bands carry fit uncertainty only, and scenario uncertainty dominates.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6177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modeled separately; Tesla as BEV proxy.  </a:t>
            </a:r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MPGe is a different quantity (BEV companion model, R² 0.708); the ex-BEV series leans on the Tesla proxy, first-order only inside 2023's Car SUV class.</a:t>
            </a:r>
            <a:endParaRPr lang="en-US" sz="1450" dirty="0"/>
          </a:p>
        </p:txBody>
      </p:sp>
      <p:pic>
        <p:nvPicPr>
          <p:cNvPr id="7" name="Image 0" descr="C:\Users\Samson\Desktop\Homework\OS3180\Final Project\charts\fig7_lab_vs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463040"/>
            <a:ext cx="4434840" cy="24996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2376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lab-vs-road gap, 1975–2024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limitations: reports/19_final_model.md, 29_productivity.md, 31_ice_productivity.md.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vehicle, predict the wallet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D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the four-variable MPG equation on 1,025 MY2024 vehicles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D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+1.9%/yr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years of design-normalized efficiency productivity, R² 0.984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D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MPG-equivalent by 2045 at trend; the sales mix decides the last five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this equation unlocks:
</a:t>
            </a:r>
            <a:pPr indent="0" marL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→  MPG  →  cost per mile  →  what consumers buy  →  the national fleet's fuel economy.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MPG is predictable from design, fleet efficiency and consumer fuel spending become predictable from the sales mix — the truck takeover, the hybrid climb, and the EV transition all become forecastable dollar flows.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full pipeline, sources, and 46 supporting figures available (DATA_SOURCES.md, SHORTSTORY.md)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survives every specification we threw at it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651760"/>
                <a:gridCol w="1005840"/>
                <a:gridCol w="1463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Main: log-log, four predictors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 MY2024 compliance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DV (MPG, not ln)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 MY2024 compliance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footprint (collinear term)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 MY2024 compliance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model, years 2000+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fueleconomy.gov catalog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model, years 2020+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fueleconomy.gov catalog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 companion: MPGe on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 MY2024, true BEVs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235440" y="1463040"/>
            <a:ext cx="2468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inside the table:
</a:t>
            </a:r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 R² dips because engine downsizing compressed displacement variance — the fleet homogenized, not the physics.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efficiency obeys the same mass law: weight elasticity −0.97, nearly unit-elastic.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reports/19_final_model.md and era fits (SHORTSTORY.md §3).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eras were found by algorithm, not by eye</a:t>
            </a:r>
            <a:endParaRPr lang="en-US" sz="1300" dirty="0"/>
          </a:p>
        </p:txBody>
      </p:sp>
      <p:pic>
        <p:nvPicPr>
          <p:cNvPr id="3" name="Image 0" descr="C:\Users\Samson\Desktop\Homework\OS3180\Final Project\charts\fig16_change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498080" cy="4362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BIC-selected piecewise-linear breaks land at 1983, 2003, and 2013, each significant by Chow test (F = 13.7, 6.1, 3.5). The three-act story is a model-selection result, not an annotation choice.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SSE search over break locations, order by BIC; reports/10_statistics.md.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our own story: gas prices explain almost none of the mix shift</a:t>
            </a:r>
            <a:endParaRPr lang="en-US" sz="1300" dirty="0"/>
          </a:p>
        </p:txBody>
      </p:sp>
      <p:pic>
        <p:nvPicPr>
          <p:cNvPr id="3" name="Image 0" descr="C:\Users\Samson\Desktop\Homework\OS3180\Final Project\charts\fig19_correlation_that_was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498080" cy="4362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overlay everyone believes: cheap gas killed the sedan. The regression: levels r-squared 0.007, differenced 0.003. The same audit killed the cheap-credit story (levels 0.57, differenced not significant). One episode survived testing: 1979.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1976-2024 annual; reports/10_statistics.md section 4.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systematically choose better MPG than the catalog median</a:t>
            </a:r>
            <a:endParaRPr lang="en-US" sz="1300" dirty="0"/>
          </a:p>
        </p:txBody>
      </p:sp>
      <p:pic>
        <p:nvPicPr>
          <p:cNvPr id="3" name="Image 0" descr="C:\Users\Samson\Desktop\Homework\OS3180\Final Project\charts\fig17_distribution_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498080" cy="395353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vs production-weighted MPG, MY2024: KS D = 0.211, a 3.5-MPG median shift toward efficiency, Wasserstein 3.06 MPG. Production is concentrated: Gini 0.731; 23% of carlines carry 80% of volume.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MY2024 combustion model types; reports/10_statistics.md section 2.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history: the era when electric meant expensive</a:t>
            </a:r>
            <a:endParaRPr lang="en-US" sz="1300" dirty="0"/>
          </a:p>
        </p:txBody>
      </p:sp>
      <p:pic>
        <p:nvPicPr>
          <p:cNvPr id="3" name="Image 0" descr="C:\Users\Samson\Desktop\Homework\OS3180\Final Project\charts\fig41_msrp_by_power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498080" cy="4362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Trim-level MSRPs 2015-2020 (17.5k trims): hybrids the budget powertrain at $24-39k, gasoline $35-40k, the Mirai parked at $58.5k, BEV medians swinging $29-60k on 11-31 trims a year. By July 2026 the EV transaction premium compressed to $6,477.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CarAPI sample feed, powertrain via fueleconomy.gov join (80.1%); reports/28_msrp.md.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on electrons has cost half as much for a decade</a:t>
            </a:r>
            <a:endParaRPr lang="en-US" sz="1300" dirty="0"/>
          </a:p>
        </p:txBody>
      </p:sp>
      <p:pic>
        <p:nvPicPr>
          <p:cNvPr id="3" name="Image 0" descr="C:\Users\Samson\Desktop\Homework\OS3180\Final Project\charts\fig33_cost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498080" cy="4362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energy cost per mile at each year's national prices: BEV 5-7 cents, gasoline 10-19. The 2024 gap is $1,007 vs $2,463 per 15,000 miles, and it narrows late as electricity prices climb while gas cars improve.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fueleconomy.gov catalog x BLS prices; reports/23_powertrain.md.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ride the same productivity clock</a:t>
            </a:r>
            <a:endParaRPr lang="en-US" sz="1300" dirty="0"/>
          </a:p>
        </p:txBody>
      </p:sp>
      <p:pic>
        <p:nvPicPr>
          <p:cNvPr id="3" name="Image 0" descr="C:\Users\Samson\Desktop\Homework\OS3180\Final Project\charts\fig44_ev_produ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498080" cy="43625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production-weighted EV series with weight (EPA Trends' Tesla rows, 2012-2024), normalized with the BEV model's -0.975 elasticity: +2.36% per year, inside the combustion band. One clock, two energy carriers.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as proxy, 13 points, model-mix included; reports/30_class_productivity.md.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</a:t>
            </a:r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2023 Car SUV spike was the Model Y, and it vanishes ex-BEV</a:t>
            </a:r>
            <a:endParaRPr lang="en-US" sz="1300" dirty="0"/>
          </a:p>
        </p:txBody>
      </p:sp>
      <p:pic>
        <p:nvPicPr>
          <p:cNvPr id="3" name="Image 0" descr="C:\Users\Samson\Desktop\Homework\OS3180\Final Project\charts\fig46_ice_class_produ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395882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18842" y="1463040"/>
            <a:ext cx="343975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BEV share went 0.6% (2019) to 35.7% (2023); remove it and the spike is gone, classes converging to 1.9-2.2% per year. The 2024 endpoint wiggle is mix, not missing data: 2024 is final (2025 is the preliminary year, excluded); the sedan dip disappears ex-BEV; the residual Car SUV dip is a lighter, less powerful 2024 ICE fleet plus first-order Tesla-proxy sensitivity at the 35.7% point.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465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reports/31_ice_productivity.md incl. the endpoint decomposition.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2026-09-10T20:08:43Z</dcterms:created>
  <dcterms:modified xsi:type="dcterms:W3CDTF">2026-09-10T20:08:43Z</dcterms:modified>
</cp:coreProperties>
</file>